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6" r:id="rId21"/>
  </p:sldIdLst>
  <p:sldSz cx="18288000" cy="10287000"/>
  <p:notesSz cx="6858000" cy="9144000"/>
  <p:embeddedFontLst>
    <p:embeddedFont>
      <p:font typeface="Montserrat" panose="00000500000000000000" pitchFamily="2" charset="0"/>
      <p:regular r:id="rId22"/>
    </p:embeddedFont>
    <p:embeddedFont>
      <p:font typeface="Montserrat Bold" panose="00000800000000000000" charset="0"/>
      <p:bold r:id="rId23"/>
    </p:embeddedFont>
    <p:embeddedFont>
      <p:font typeface="Poppins" panose="00000500000000000000" pitchFamily="2" charset="0"/>
      <p:regular r:id="rId24"/>
    </p:embeddedFont>
    <p:embeddedFont>
      <p:font typeface="Poppins Bold" panose="020B0604020202020204" charset="0"/>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2.svg"/><Relationship Id="rId7" Type="http://schemas.openxmlformats.org/officeDocument/2006/relationships/image" Target="../media/image13.png"/><Relationship Id="rId2" Type="http://schemas.openxmlformats.org/officeDocument/2006/relationships/image" Target="../media/image1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5.jpeg"/><Relationship Id="rId5" Type="http://schemas.openxmlformats.org/officeDocument/2006/relationships/image" Target="../media/image7.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18" Type="http://schemas.openxmlformats.org/officeDocument/2006/relationships/image" Target="../media/image41.png"/><Relationship Id="rId3" Type="http://schemas.openxmlformats.org/officeDocument/2006/relationships/image" Target="../media/image27.svg"/><Relationship Id="rId21" Type="http://schemas.openxmlformats.org/officeDocument/2006/relationships/image" Target="../media/image44.png"/><Relationship Id="rId7" Type="http://schemas.openxmlformats.org/officeDocument/2006/relationships/image" Target="../media/image31.svg"/><Relationship Id="rId12" Type="http://schemas.openxmlformats.org/officeDocument/2006/relationships/image" Target="../media/image36.svg"/><Relationship Id="rId17" Type="http://schemas.openxmlformats.org/officeDocument/2006/relationships/image" Target="../media/image7.png"/><Relationship Id="rId2" Type="http://schemas.openxmlformats.org/officeDocument/2006/relationships/image" Target="../media/image26.svg"/><Relationship Id="rId16" Type="http://schemas.openxmlformats.org/officeDocument/2006/relationships/image" Target="../media/image40.svg"/><Relationship Id="rId20"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30.svg"/><Relationship Id="rId11" Type="http://schemas.openxmlformats.org/officeDocument/2006/relationships/image" Target="../media/image35.svg"/><Relationship Id="rId24" Type="http://schemas.openxmlformats.org/officeDocument/2006/relationships/image" Target="../media/image47.png"/><Relationship Id="rId5" Type="http://schemas.openxmlformats.org/officeDocument/2006/relationships/image" Target="../media/image29.svg"/><Relationship Id="rId15" Type="http://schemas.openxmlformats.org/officeDocument/2006/relationships/image" Target="../media/image39.svg"/><Relationship Id="rId23" Type="http://schemas.openxmlformats.org/officeDocument/2006/relationships/image" Target="../media/image46.png"/><Relationship Id="rId10" Type="http://schemas.openxmlformats.org/officeDocument/2006/relationships/image" Target="../media/image34.svg"/><Relationship Id="rId19" Type="http://schemas.openxmlformats.org/officeDocument/2006/relationships/image" Target="../media/image42.png"/><Relationship Id="rId4" Type="http://schemas.openxmlformats.org/officeDocument/2006/relationships/image" Target="../media/image28.svg"/><Relationship Id="rId9" Type="http://schemas.openxmlformats.org/officeDocument/2006/relationships/image" Target="../media/image33.svg"/><Relationship Id="rId14" Type="http://schemas.openxmlformats.org/officeDocument/2006/relationships/image" Target="../media/image38.svg"/><Relationship Id="rId22"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9.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6097505" y="5590242"/>
            <a:ext cx="14099419" cy="14099419"/>
          </a:xfrm>
          <a:custGeom>
            <a:avLst/>
            <a:gdLst/>
            <a:ahLst/>
            <a:cxnLst/>
            <a:rect l="l" t="t" r="r" b="b"/>
            <a:pathLst>
              <a:path w="14099419" h="14099419">
                <a:moveTo>
                  <a:pt x="0" y="0"/>
                </a:moveTo>
                <a:lnTo>
                  <a:pt x="14099419" y="0"/>
                </a:lnTo>
                <a:lnTo>
                  <a:pt x="14099419" y="14099419"/>
                </a:lnTo>
                <a:lnTo>
                  <a:pt x="0" y="140994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430016" y="2642711"/>
            <a:ext cx="9512322" cy="3093720"/>
          </a:xfrm>
          <a:prstGeom prst="rect">
            <a:avLst/>
          </a:prstGeom>
        </p:spPr>
        <p:txBody>
          <a:bodyPr lIns="0" tIns="0" rIns="0" bIns="0" rtlCol="0" anchor="t">
            <a:spAutoFit/>
          </a:bodyPr>
          <a:lstStyle/>
          <a:p>
            <a:pPr algn="l">
              <a:lnSpc>
                <a:spcPts val="7980"/>
              </a:lnSpc>
            </a:pPr>
            <a:r>
              <a:rPr lang="en-US" sz="5700" b="1">
                <a:solidFill>
                  <a:srgbClr val="051D40"/>
                </a:solidFill>
                <a:latin typeface="Montserrat Bold" panose="00000800000000000000"/>
                <a:ea typeface="Montserrat Bold" panose="00000800000000000000"/>
                <a:cs typeface="Montserrat Bold" panose="00000800000000000000"/>
                <a:sym typeface="Montserrat Bold" panose="00000800000000000000"/>
              </a:rPr>
              <a:t>Path Planning Algorithm for Mobile Robots in Unknown Environments </a:t>
            </a:r>
          </a:p>
        </p:txBody>
      </p:sp>
      <p:sp>
        <p:nvSpPr>
          <p:cNvPr id="4" name="Freeform 4"/>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4117981" y="6200785"/>
            <a:ext cx="8113109" cy="8113109"/>
          </a:xfrm>
          <a:custGeom>
            <a:avLst/>
            <a:gdLst/>
            <a:ahLst/>
            <a:cxnLst/>
            <a:rect l="l" t="t" r="r" b="b"/>
            <a:pathLst>
              <a:path w="8113109" h="8113109">
                <a:moveTo>
                  <a:pt x="0" y="0"/>
                </a:moveTo>
                <a:lnTo>
                  <a:pt x="8113109" y="0"/>
                </a:lnTo>
                <a:lnTo>
                  <a:pt x="8113109" y="8113109"/>
                </a:lnTo>
                <a:lnTo>
                  <a:pt x="0" y="81131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7"/>
          <p:cNvGrpSpPr/>
          <p:nvPr/>
        </p:nvGrpSpPr>
        <p:grpSpPr>
          <a:xfrm>
            <a:off x="8757390" y="7522578"/>
            <a:ext cx="8779631" cy="1733979"/>
            <a:chOff x="0" y="0"/>
            <a:chExt cx="11706174" cy="2311972"/>
          </a:xfrm>
        </p:grpSpPr>
        <p:sp>
          <p:nvSpPr>
            <p:cNvPr id="8" name="Freeform 8"/>
            <p:cNvSpPr/>
            <p:nvPr/>
          </p:nvSpPr>
          <p:spPr>
            <a:xfrm>
              <a:off x="0" y="0"/>
              <a:ext cx="11706225" cy="2311908"/>
            </a:xfrm>
            <a:custGeom>
              <a:avLst/>
              <a:gdLst/>
              <a:ahLst/>
              <a:cxnLst/>
              <a:rect l="l" t="t" r="r" b="b"/>
              <a:pathLst>
                <a:path w="11706225" h="2311908">
                  <a:moveTo>
                    <a:pt x="0" y="0"/>
                  </a:moveTo>
                  <a:lnTo>
                    <a:pt x="11706225" y="0"/>
                  </a:lnTo>
                  <a:lnTo>
                    <a:pt x="11706225" y="2311908"/>
                  </a:lnTo>
                  <a:lnTo>
                    <a:pt x="0" y="2311908"/>
                  </a:lnTo>
                  <a:lnTo>
                    <a:pt x="0" y="0"/>
                  </a:lnTo>
                  <a:close/>
                </a:path>
              </a:pathLst>
            </a:custGeom>
            <a:blipFill>
              <a:blip r:embed="rId5"/>
              <a:stretch>
                <a:fillRect t="-132" b="-136"/>
              </a:stretch>
            </a:blipFill>
          </p:spPr>
          <p:txBody>
            <a:bodyPr/>
            <a:lstStyle/>
            <a:p>
              <a:endParaRPr lang="en-US"/>
            </a:p>
          </p:txBody>
        </p:sp>
      </p:grpSp>
      <p:grpSp>
        <p:nvGrpSpPr>
          <p:cNvPr id="9" name="Group 9"/>
          <p:cNvGrpSpPr/>
          <p:nvPr/>
        </p:nvGrpSpPr>
        <p:grpSpPr>
          <a:xfrm>
            <a:off x="10021548" y="3902154"/>
            <a:ext cx="7392943" cy="4958220"/>
            <a:chOff x="0" y="0"/>
            <a:chExt cx="9857257" cy="6610960"/>
          </a:xfrm>
        </p:grpSpPr>
        <p:sp>
          <p:nvSpPr>
            <p:cNvPr id="10" name="Freeform 10"/>
            <p:cNvSpPr/>
            <p:nvPr/>
          </p:nvSpPr>
          <p:spPr>
            <a:xfrm>
              <a:off x="0" y="0"/>
              <a:ext cx="9857232" cy="6610985"/>
            </a:xfrm>
            <a:custGeom>
              <a:avLst/>
              <a:gdLst/>
              <a:ahLst/>
              <a:cxnLst/>
              <a:rect l="l" t="t" r="r" b="b"/>
              <a:pathLst>
                <a:path w="9857232" h="6610985">
                  <a:moveTo>
                    <a:pt x="9509887" y="0"/>
                  </a:moveTo>
                  <a:lnTo>
                    <a:pt x="345440" y="0"/>
                  </a:lnTo>
                  <a:cubicBezTo>
                    <a:pt x="155194" y="0"/>
                    <a:pt x="0" y="155194"/>
                    <a:pt x="0" y="345440"/>
                  </a:cubicBezTo>
                  <a:lnTo>
                    <a:pt x="0" y="6610985"/>
                  </a:lnTo>
                  <a:lnTo>
                    <a:pt x="9857232" y="6610985"/>
                  </a:lnTo>
                  <a:lnTo>
                    <a:pt x="9857232" y="345440"/>
                  </a:lnTo>
                  <a:cubicBezTo>
                    <a:pt x="9855327" y="155194"/>
                    <a:pt x="9700133" y="0"/>
                    <a:pt x="9509887" y="0"/>
                  </a:cubicBezTo>
                  <a:close/>
                  <a:moveTo>
                    <a:pt x="9552559" y="6178296"/>
                  </a:moveTo>
                  <a:lnTo>
                    <a:pt x="300736" y="6178296"/>
                  </a:lnTo>
                  <a:lnTo>
                    <a:pt x="300736" y="390017"/>
                  </a:lnTo>
                  <a:lnTo>
                    <a:pt x="9552559" y="390017"/>
                  </a:lnTo>
                  <a:lnTo>
                    <a:pt x="9552559" y="6178296"/>
                  </a:lnTo>
                  <a:close/>
                </a:path>
              </a:pathLst>
            </a:custGeom>
            <a:solidFill>
              <a:srgbClr val="242424"/>
            </a:solidFill>
          </p:spPr>
          <p:txBody>
            <a:bodyPr/>
            <a:lstStyle/>
            <a:p>
              <a:endParaRPr lang="en-US"/>
            </a:p>
          </p:txBody>
        </p:sp>
      </p:grpSp>
      <p:sp>
        <p:nvSpPr>
          <p:cNvPr id="11" name="Freeform 11"/>
          <p:cNvSpPr/>
          <p:nvPr/>
        </p:nvSpPr>
        <p:spPr>
          <a:xfrm>
            <a:off x="9144000" y="3877408"/>
            <a:ext cx="9146581" cy="5205622"/>
          </a:xfrm>
          <a:custGeom>
            <a:avLst/>
            <a:gdLst/>
            <a:ahLst/>
            <a:cxnLst/>
            <a:rect l="l" t="t" r="r" b="b"/>
            <a:pathLst>
              <a:path w="9146581" h="5205622">
                <a:moveTo>
                  <a:pt x="0" y="0"/>
                </a:moveTo>
                <a:lnTo>
                  <a:pt x="9146581" y="0"/>
                </a:lnTo>
                <a:lnTo>
                  <a:pt x="9146581" y="5205622"/>
                </a:lnTo>
                <a:lnTo>
                  <a:pt x="0" y="520562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2" name="Group 12"/>
          <p:cNvGrpSpPr/>
          <p:nvPr/>
        </p:nvGrpSpPr>
        <p:grpSpPr>
          <a:xfrm>
            <a:off x="13109705" y="8861822"/>
            <a:ext cx="1213723" cy="110604"/>
            <a:chOff x="0" y="0"/>
            <a:chExt cx="1618298" cy="147472"/>
          </a:xfrm>
        </p:grpSpPr>
        <p:sp>
          <p:nvSpPr>
            <p:cNvPr id="13" name="Freeform 13"/>
            <p:cNvSpPr/>
            <p:nvPr/>
          </p:nvSpPr>
          <p:spPr>
            <a:xfrm>
              <a:off x="0" y="0"/>
              <a:ext cx="1618361" cy="147447"/>
            </a:xfrm>
            <a:custGeom>
              <a:avLst/>
              <a:gdLst/>
              <a:ahLst/>
              <a:cxnLst/>
              <a:rect l="l" t="t" r="r" b="b"/>
              <a:pathLst>
                <a:path w="1618361" h="147447">
                  <a:moveTo>
                    <a:pt x="147447" y="147447"/>
                  </a:moveTo>
                  <a:lnTo>
                    <a:pt x="1472819" y="147447"/>
                  </a:lnTo>
                  <a:cubicBezTo>
                    <a:pt x="1554353" y="147447"/>
                    <a:pt x="1618361" y="81534"/>
                    <a:pt x="1618361" y="1905"/>
                  </a:cubicBezTo>
                  <a:lnTo>
                    <a:pt x="1618361" y="0"/>
                  </a:lnTo>
                  <a:lnTo>
                    <a:pt x="0" y="0"/>
                  </a:lnTo>
                  <a:lnTo>
                    <a:pt x="0" y="1905"/>
                  </a:lnTo>
                  <a:cubicBezTo>
                    <a:pt x="0" y="81534"/>
                    <a:pt x="65913" y="147447"/>
                    <a:pt x="147447" y="147447"/>
                  </a:cubicBezTo>
                  <a:close/>
                </a:path>
              </a:pathLst>
            </a:custGeom>
            <a:solidFill>
              <a:srgbClr val="CCCCCC"/>
            </a:solidFill>
          </p:spPr>
          <p:txBody>
            <a:bodyPr/>
            <a:lstStyle/>
            <a:p>
              <a:endParaRPr lang="en-US"/>
            </a:p>
          </p:txBody>
        </p:sp>
      </p:grpSp>
      <p:grpSp>
        <p:nvGrpSpPr>
          <p:cNvPr id="14" name="Group 14"/>
          <p:cNvGrpSpPr/>
          <p:nvPr/>
        </p:nvGrpSpPr>
        <p:grpSpPr>
          <a:xfrm>
            <a:off x="9331738" y="9083030"/>
            <a:ext cx="8771115" cy="40748"/>
            <a:chOff x="0" y="0"/>
            <a:chExt cx="11694820" cy="54331"/>
          </a:xfrm>
        </p:grpSpPr>
        <p:sp>
          <p:nvSpPr>
            <p:cNvPr id="15" name="Freeform 15"/>
            <p:cNvSpPr/>
            <p:nvPr/>
          </p:nvSpPr>
          <p:spPr>
            <a:xfrm>
              <a:off x="0" y="0"/>
              <a:ext cx="11694922" cy="54356"/>
            </a:xfrm>
            <a:custGeom>
              <a:avLst/>
              <a:gdLst/>
              <a:ahLst/>
              <a:cxnLst/>
              <a:rect l="l" t="t" r="r" b="b"/>
              <a:pathLst>
                <a:path w="11694922" h="54356">
                  <a:moveTo>
                    <a:pt x="0" y="0"/>
                  </a:moveTo>
                  <a:cubicBezTo>
                    <a:pt x="0" y="30988"/>
                    <a:pt x="25273" y="54356"/>
                    <a:pt x="54356" y="54356"/>
                  </a:cubicBezTo>
                  <a:lnTo>
                    <a:pt x="11640566" y="54356"/>
                  </a:lnTo>
                  <a:cubicBezTo>
                    <a:pt x="11671553" y="54356"/>
                    <a:pt x="11694922" y="29083"/>
                    <a:pt x="11694922" y="0"/>
                  </a:cubicBezTo>
                  <a:lnTo>
                    <a:pt x="0" y="0"/>
                  </a:lnTo>
                  <a:close/>
                </a:path>
              </a:pathLst>
            </a:custGeom>
            <a:solidFill>
              <a:srgbClr val="CCCCCC"/>
            </a:solidFill>
          </p:spPr>
          <p:txBody>
            <a:bodyPr/>
            <a:lstStyle/>
            <a:p>
              <a:endParaRPr lang="en-US"/>
            </a:p>
          </p:txBody>
        </p:sp>
      </p:grpSp>
      <p:grpSp>
        <p:nvGrpSpPr>
          <p:cNvPr id="16" name="Group 16"/>
          <p:cNvGrpSpPr/>
          <p:nvPr/>
        </p:nvGrpSpPr>
        <p:grpSpPr>
          <a:xfrm>
            <a:off x="10247119" y="4194667"/>
            <a:ext cx="6938886" cy="4342628"/>
            <a:chOff x="0" y="0"/>
            <a:chExt cx="9251848" cy="5790171"/>
          </a:xfrm>
        </p:grpSpPr>
        <p:sp>
          <p:nvSpPr>
            <p:cNvPr id="17" name="Freeform 17"/>
            <p:cNvSpPr/>
            <p:nvPr/>
          </p:nvSpPr>
          <p:spPr>
            <a:xfrm>
              <a:off x="0" y="0"/>
              <a:ext cx="9251823" cy="5790184"/>
            </a:xfrm>
            <a:custGeom>
              <a:avLst/>
              <a:gdLst/>
              <a:ahLst/>
              <a:cxnLst/>
              <a:rect l="l" t="t" r="r" b="b"/>
              <a:pathLst>
                <a:path w="9251823" h="5790184">
                  <a:moveTo>
                    <a:pt x="0" y="0"/>
                  </a:moveTo>
                  <a:lnTo>
                    <a:pt x="9251823" y="0"/>
                  </a:lnTo>
                  <a:lnTo>
                    <a:pt x="9251823" y="5790184"/>
                  </a:lnTo>
                  <a:lnTo>
                    <a:pt x="0" y="5790184"/>
                  </a:lnTo>
                  <a:close/>
                </a:path>
              </a:pathLst>
            </a:custGeom>
            <a:blipFill>
              <a:blip r:embed="rId7"/>
              <a:stretch>
                <a:fillRect t="-29892" b="-29892"/>
              </a:stretch>
            </a:blipFill>
          </p:spPr>
          <p:txBody>
            <a:bodyPr/>
            <a:lstStyle/>
            <a:p>
              <a:endParaRPr lang="en-US"/>
            </a:p>
          </p:txBody>
        </p:sp>
      </p:grpSp>
      <p:sp>
        <p:nvSpPr>
          <p:cNvPr id="18" name="TextBox 18"/>
          <p:cNvSpPr txBox="1"/>
          <p:nvPr/>
        </p:nvSpPr>
        <p:spPr>
          <a:xfrm>
            <a:off x="451275" y="7493337"/>
            <a:ext cx="7985484" cy="587283"/>
          </a:xfrm>
          <a:prstGeom prst="rect">
            <a:avLst/>
          </a:prstGeom>
        </p:spPr>
        <p:txBody>
          <a:bodyPr lIns="0" tIns="0" rIns="0" bIns="0" rtlCol="0" anchor="t">
            <a:spAutoFit/>
          </a:bodyPr>
          <a:lstStyle/>
          <a:p>
            <a:pPr algn="l">
              <a:lnSpc>
                <a:spcPts val="3855"/>
              </a:lnSpc>
            </a:pPr>
            <a:r>
              <a:rPr lang="en-US" sz="2750" spc="-54">
                <a:solidFill>
                  <a:srgbClr val="051D40"/>
                </a:solidFill>
                <a:latin typeface="Poppins" panose="00000500000000000000"/>
                <a:ea typeface="Poppins" panose="00000500000000000000"/>
                <a:cs typeface="Poppins" panose="00000500000000000000"/>
                <a:sym typeface="Poppins" panose="00000500000000000000"/>
              </a:rPr>
              <a:t>Supervised by:  Dr. Usman Rauf</a:t>
            </a:r>
          </a:p>
        </p:txBody>
      </p:sp>
      <p:grpSp>
        <p:nvGrpSpPr>
          <p:cNvPr id="19" name="Group 19"/>
          <p:cNvGrpSpPr/>
          <p:nvPr/>
        </p:nvGrpSpPr>
        <p:grpSpPr>
          <a:xfrm>
            <a:off x="268738" y="601628"/>
            <a:ext cx="2332682" cy="2332682"/>
            <a:chOff x="0" y="0"/>
            <a:chExt cx="3110243" cy="3110243"/>
          </a:xfrm>
        </p:grpSpPr>
        <p:sp>
          <p:nvSpPr>
            <p:cNvPr id="20" name="Freeform 20"/>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8"/>
              <a:stretch>
                <a:fillRect t="-16666" b="-16667"/>
              </a:stretch>
            </a:blipFill>
          </p:spPr>
          <p:txBody>
            <a:bodyPr/>
            <a:lstStyle/>
            <a:p>
              <a:endParaRPr lang="en-US"/>
            </a:p>
          </p:txBody>
        </p:sp>
      </p:grpSp>
      <p:sp>
        <p:nvSpPr>
          <p:cNvPr id="21" name="TextBox 21"/>
          <p:cNvSpPr txBox="1"/>
          <p:nvPr/>
        </p:nvSpPr>
        <p:spPr>
          <a:xfrm>
            <a:off x="430016" y="6140282"/>
            <a:ext cx="7985484" cy="1129827"/>
          </a:xfrm>
          <a:prstGeom prst="rect">
            <a:avLst/>
          </a:prstGeom>
        </p:spPr>
        <p:txBody>
          <a:bodyPr lIns="0" tIns="0" rIns="0" bIns="0" rtlCol="0" anchor="t">
            <a:spAutoFit/>
          </a:bodyPr>
          <a:lstStyle/>
          <a:p>
            <a:pPr algn="l">
              <a:lnSpc>
                <a:spcPts val="4180"/>
              </a:lnSpc>
            </a:pPr>
            <a:r>
              <a:rPr lang="en-US" sz="2985" spc="-58">
                <a:solidFill>
                  <a:srgbClr val="051D40"/>
                </a:solidFill>
                <a:latin typeface="Poppins" panose="00000500000000000000"/>
                <a:ea typeface="Poppins" panose="00000500000000000000"/>
                <a:cs typeface="Poppins" panose="00000500000000000000"/>
                <a:sym typeface="Poppins" panose="00000500000000000000"/>
              </a:rPr>
              <a:t>Salma Sahab (22-cp-60)</a:t>
            </a:r>
          </a:p>
          <a:p>
            <a:pPr algn="l">
              <a:lnSpc>
                <a:spcPts val="4180"/>
              </a:lnSpc>
            </a:pPr>
            <a:r>
              <a:rPr lang="en-US" sz="2985" spc="-58">
                <a:solidFill>
                  <a:srgbClr val="051D40"/>
                </a:solidFill>
                <a:latin typeface="Poppins" panose="00000500000000000000"/>
                <a:ea typeface="Poppins" panose="00000500000000000000"/>
                <a:cs typeface="Poppins" panose="00000500000000000000"/>
                <a:sym typeface="Poppins" panose="00000500000000000000"/>
              </a:rPr>
              <a:t>Attia Batool     (22-cp-79)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96351" y="5190649"/>
            <a:ext cx="10192712" cy="10192712"/>
          </a:xfrm>
          <a:custGeom>
            <a:avLst/>
            <a:gdLst/>
            <a:ahLst/>
            <a:cxnLst/>
            <a:rect l="l" t="t" r="r" b="b"/>
            <a:pathLst>
              <a:path w="10192712" h="10192712">
                <a:moveTo>
                  <a:pt x="0" y="0"/>
                </a:moveTo>
                <a:lnTo>
                  <a:pt x="10192712" y="0"/>
                </a:lnTo>
                <a:lnTo>
                  <a:pt x="10192712" y="10192712"/>
                </a:lnTo>
                <a:lnTo>
                  <a:pt x="0" y="101927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0639654" y="1847278"/>
            <a:ext cx="7019696" cy="10556310"/>
          </a:xfrm>
          <a:custGeom>
            <a:avLst/>
            <a:gdLst/>
            <a:ahLst/>
            <a:cxnLst/>
            <a:rect l="l" t="t" r="r" b="b"/>
            <a:pathLst>
              <a:path w="7019696" h="10556310">
                <a:moveTo>
                  <a:pt x="0" y="0"/>
                </a:moveTo>
                <a:lnTo>
                  <a:pt x="7019696" y="0"/>
                </a:lnTo>
                <a:lnTo>
                  <a:pt x="7019696" y="10556310"/>
                </a:lnTo>
                <a:lnTo>
                  <a:pt x="0" y="105563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1018825" y="2188778"/>
            <a:ext cx="6261344" cy="6261344"/>
            <a:chOff x="0" y="0"/>
            <a:chExt cx="8348459" cy="8348459"/>
          </a:xfrm>
        </p:grpSpPr>
        <p:sp>
          <p:nvSpPr>
            <p:cNvPr id="5" name="Freeform 5"/>
            <p:cNvSpPr/>
            <p:nvPr/>
          </p:nvSpPr>
          <p:spPr>
            <a:xfrm>
              <a:off x="0" y="0"/>
              <a:ext cx="8348472" cy="8348472"/>
            </a:xfrm>
            <a:custGeom>
              <a:avLst/>
              <a:gdLst/>
              <a:ahLst/>
              <a:cxnLst/>
              <a:rect l="l" t="t" r="r" b="b"/>
              <a:pathLst>
                <a:path w="8348472" h="8348472">
                  <a:moveTo>
                    <a:pt x="4173601" y="8348472"/>
                  </a:moveTo>
                  <a:cubicBezTo>
                    <a:pt x="1873123" y="8348472"/>
                    <a:pt x="0" y="6475349"/>
                    <a:pt x="0" y="4173601"/>
                  </a:cubicBezTo>
                  <a:cubicBezTo>
                    <a:pt x="0" y="1871853"/>
                    <a:pt x="1873123" y="0"/>
                    <a:pt x="4173601" y="0"/>
                  </a:cubicBezTo>
                  <a:cubicBezTo>
                    <a:pt x="6474079" y="0"/>
                    <a:pt x="8348472" y="1873123"/>
                    <a:pt x="8348472" y="4173601"/>
                  </a:cubicBezTo>
                  <a:cubicBezTo>
                    <a:pt x="8348472" y="6474079"/>
                    <a:pt x="6475349" y="8348472"/>
                    <a:pt x="4173601" y="8348472"/>
                  </a:cubicBezTo>
                  <a:close/>
                  <a:moveTo>
                    <a:pt x="4173601" y="17907"/>
                  </a:moveTo>
                  <a:cubicBezTo>
                    <a:pt x="1882648" y="17907"/>
                    <a:pt x="17907" y="1882648"/>
                    <a:pt x="17907" y="4173601"/>
                  </a:cubicBezTo>
                  <a:cubicBezTo>
                    <a:pt x="17907" y="6464554"/>
                    <a:pt x="1882648" y="8329422"/>
                    <a:pt x="4173601" y="8329422"/>
                  </a:cubicBezTo>
                  <a:cubicBezTo>
                    <a:pt x="6464554" y="8329422"/>
                    <a:pt x="8329422" y="6464681"/>
                    <a:pt x="8329422" y="4173601"/>
                  </a:cubicBezTo>
                  <a:cubicBezTo>
                    <a:pt x="8329422" y="1882521"/>
                    <a:pt x="6465824" y="17907"/>
                    <a:pt x="4173601" y="17907"/>
                  </a:cubicBezTo>
                  <a:close/>
                </a:path>
              </a:pathLst>
            </a:custGeom>
            <a:solidFill>
              <a:srgbClr val="FFFFFF"/>
            </a:solidFill>
          </p:spPr>
          <p:txBody>
            <a:bodyPr/>
            <a:lstStyle/>
            <a:p>
              <a:endParaRPr lang="en-US"/>
            </a:p>
          </p:txBody>
        </p:sp>
      </p:grpSp>
      <p:grpSp>
        <p:nvGrpSpPr>
          <p:cNvPr id="6" name="Group 6"/>
          <p:cNvGrpSpPr/>
          <p:nvPr/>
        </p:nvGrpSpPr>
        <p:grpSpPr>
          <a:xfrm>
            <a:off x="11123314" y="2293268"/>
            <a:ext cx="6051471" cy="6051471"/>
            <a:chOff x="0" y="0"/>
            <a:chExt cx="8068628" cy="8068628"/>
          </a:xfrm>
        </p:grpSpPr>
        <p:sp>
          <p:nvSpPr>
            <p:cNvPr id="7" name="Freeform 7"/>
            <p:cNvSpPr/>
            <p:nvPr/>
          </p:nvSpPr>
          <p:spPr>
            <a:xfrm>
              <a:off x="0" y="0"/>
              <a:ext cx="8068691" cy="8068564"/>
            </a:xfrm>
            <a:custGeom>
              <a:avLst/>
              <a:gdLst/>
              <a:ahLst/>
              <a:cxnLst/>
              <a:rect l="l" t="t" r="r" b="b"/>
              <a:pathLst>
                <a:path w="8068691" h="8068564">
                  <a:moveTo>
                    <a:pt x="8068691" y="4034282"/>
                  </a:moveTo>
                  <a:cubicBezTo>
                    <a:pt x="8068691" y="6262243"/>
                    <a:pt x="6262243" y="8068564"/>
                    <a:pt x="4034409" y="8068564"/>
                  </a:cubicBezTo>
                  <a:cubicBezTo>
                    <a:pt x="1806575" y="8068564"/>
                    <a:pt x="0" y="6263386"/>
                    <a:pt x="0" y="4034282"/>
                  </a:cubicBezTo>
                  <a:cubicBezTo>
                    <a:pt x="0" y="1805178"/>
                    <a:pt x="1806448" y="0"/>
                    <a:pt x="4034282" y="0"/>
                  </a:cubicBezTo>
                  <a:cubicBezTo>
                    <a:pt x="6262116" y="0"/>
                    <a:pt x="8068691" y="1806448"/>
                    <a:pt x="8068691" y="4034282"/>
                  </a:cubicBezTo>
                  <a:close/>
                </a:path>
              </a:pathLst>
            </a:custGeom>
            <a:blipFill>
              <a:blip r:embed="rId4"/>
              <a:stretch>
                <a:fillRect l="-26391" r="-26390"/>
              </a:stretch>
            </a:blipFill>
          </p:spPr>
          <p:txBody>
            <a:bodyPr/>
            <a:lstStyle/>
            <a:p>
              <a:endParaRPr lang="en-US"/>
            </a:p>
          </p:txBody>
        </p:sp>
      </p:grpSp>
      <p:sp>
        <p:nvSpPr>
          <p:cNvPr id="8" name="TextBox 8"/>
          <p:cNvSpPr txBox="1"/>
          <p:nvPr/>
        </p:nvSpPr>
        <p:spPr>
          <a:xfrm>
            <a:off x="1028700" y="3606034"/>
            <a:ext cx="8414776" cy="5251933"/>
          </a:xfrm>
          <a:prstGeom prst="rect">
            <a:avLst/>
          </a:prstGeom>
        </p:spPr>
        <p:txBody>
          <a:bodyPr lIns="0" tIns="0" rIns="0" bIns="0" rtlCol="0" anchor="t">
            <a:spAutoFit/>
          </a:bodyPr>
          <a:lstStyle/>
          <a:p>
            <a:pPr algn="just">
              <a:lnSpc>
                <a:spcPts val="4525"/>
              </a:lnSpc>
            </a:pPr>
            <a:r>
              <a:rPr lang="en-US" sz="3230" spc="-63">
                <a:solidFill>
                  <a:srgbClr val="051D40"/>
                </a:solidFill>
                <a:latin typeface="Poppins" panose="00000500000000000000"/>
                <a:ea typeface="Poppins" panose="00000500000000000000"/>
                <a:cs typeface="Poppins" panose="00000500000000000000"/>
                <a:sym typeface="Poppins" panose="00000500000000000000"/>
              </a:rPr>
              <a:t>Mobile robots face challenges when moving in unknown and changing environments where obstacles appear unexpectedly. Some existing path planning algorithms often fail to find safe and efficient routes in real time, especially when the surroundings are not already mapped.</a:t>
            </a:r>
          </a:p>
          <a:p>
            <a:pPr algn="just">
              <a:lnSpc>
                <a:spcPts val="4525"/>
              </a:lnSpc>
            </a:pPr>
            <a:endParaRPr lang="en-US" sz="3230" spc="-63">
              <a:solidFill>
                <a:srgbClr val="051D40"/>
              </a:solidFill>
              <a:latin typeface="Poppins" panose="00000500000000000000"/>
              <a:ea typeface="Poppins" panose="00000500000000000000"/>
              <a:cs typeface="Poppins" panose="00000500000000000000"/>
              <a:sym typeface="Poppins" panose="00000500000000000000"/>
            </a:endParaRPr>
          </a:p>
        </p:txBody>
      </p:sp>
      <p:sp>
        <p:nvSpPr>
          <p:cNvPr id="9" name="TextBox 9"/>
          <p:cNvSpPr txBox="1"/>
          <p:nvPr/>
        </p:nvSpPr>
        <p:spPr>
          <a:xfrm>
            <a:off x="1028700" y="2428723"/>
            <a:ext cx="8428387" cy="1166498"/>
          </a:xfrm>
          <a:prstGeom prst="rect">
            <a:avLst/>
          </a:prstGeom>
        </p:spPr>
        <p:txBody>
          <a:bodyPr lIns="0" tIns="0" rIns="0" bIns="0" rtlCol="0" anchor="t">
            <a:spAutoFit/>
          </a:bodyPr>
          <a:lstStyle/>
          <a:p>
            <a:pPr algn="l">
              <a:lnSpc>
                <a:spcPts val="8680"/>
              </a:lnSpc>
            </a:pPr>
            <a:r>
              <a:rPr lang="en-US" sz="6200" b="1">
                <a:solidFill>
                  <a:srgbClr val="051D40"/>
                </a:solidFill>
                <a:latin typeface="Montserrat Bold" panose="00000800000000000000"/>
                <a:ea typeface="Montserrat Bold" panose="00000800000000000000"/>
                <a:cs typeface="Montserrat Bold" panose="00000800000000000000"/>
                <a:sym typeface="Montserrat Bold" panose="00000800000000000000"/>
              </a:rPr>
              <a:t>Problem Statement</a:t>
            </a:r>
          </a:p>
        </p:txBody>
      </p:sp>
      <p:grpSp>
        <p:nvGrpSpPr>
          <p:cNvPr id="10" name="Group 10"/>
          <p:cNvGrpSpPr/>
          <p:nvPr/>
        </p:nvGrpSpPr>
        <p:grpSpPr>
          <a:xfrm>
            <a:off x="215932" y="210341"/>
            <a:ext cx="2332682" cy="2332682"/>
            <a:chOff x="0" y="0"/>
            <a:chExt cx="3110243" cy="3110243"/>
          </a:xfrm>
        </p:grpSpPr>
        <p:sp>
          <p:nvSpPr>
            <p:cNvPr id="11" name="Freeform 11"/>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5"/>
              <a:stretch>
                <a:fillRect t="-16666" b="-16667"/>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68352" y="-3625577"/>
            <a:ext cx="7741006" cy="7741006"/>
          </a:xfrm>
          <a:custGeom>
            <a:avLst/>
            <a:gdLst/>
            <a:ahLst/>
            <a:cxnLst/>
            <a:rect l="l" t="t" r="r" b="b"/>
            <a:pathLst>
              <a:path w="7741006" h="7741006">
                <a:moveTo>
                  <a:pt x="0" y="0"/>
                </a:moveTo>
                <a:lnTo>
                  <a:pt x="7741005" y="0"/>
                </a:lnTo>
                <a:lnTo>
                  <a:pt x="7741005" y="7741006"/>
                </a:lnTo>
                <a:lnTo>
                  <a:pt x="0" y="77410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599970" y="4108256"/>
            <a:ext cx="7797819" cy="2870581"/>
          </a:xfrm>
          <a:prstGeom prst="rect">
            <a:avLst/>
          </a:prstGeom>
        </p:spPr>
        <p:txBody>
          <a:bodyPr lIns="0" tIns="0" rIns="0" bIns="0" rtlCol="0" anchor="t">
            <a:spAutoFit/>
          </a:bodyPr>
          <a:lstStyle/>
          <a:p>
            <a:pPr algn="just">
              <a:lnSpc>
                <a:spcPts val="4525"/>
              </a:lnSpc>
            </a:pPr>
            <a:r>
              <a:rPr lang="en-US" sz="3230" spc="-63">
                <a:solidFill>
                  <a:srgbClr val="051D40"/>
                </a:solidFill>
                <a:latin typeface="Poppins" panose="00000500000000000000"/>
                <a:ea typeface="Poppins" panose="00000500000000000000"/>
                <a:cs typeface="Poppins" panose="00000500000000000000"/>
                <a:sym typeface="Poppins" panose="00000500000000000000"/>
              </a:rPr>
              <a:t>To develop a hybrid path planning system that allows a mobile robot to navigate safely and efficiently in unknown  environments using real time sensor data.</a:t>
            </a:r>
          </a:p>
        </p:txBody>
      </p:sp>
      <p:sp>
        <p:nvSpPr>
          <p:cNvPr id="4" name="Freeform 4"/>
          <p:cNvSpPr/>
          <p:nvPr/>
        </p:nvSpPr>
        <p:spPr>
          <a:xfrm>
            <a:off x="11216126" y="3589630"/>
            <a:ext cx="12916081" cy="12916081"/>
          </a:xfrm>
          <a:custGeom>
            <a:avLst/>
            <a:gdLst/>
            <a:ahLst/>
            <a:cxnLst/>
            <a:rect l="l" t="t" r="r" b="b"/>
            <a:pathLst>
              <a:path w="12916081" h="12916081">
                <a:moveTo>
                  <a:pt x="0" y="0"/>
                </a:moveTo>
                <a:lnTo>
                  <a:pt x="12916081" y="0"/>
                </a:lnTo>
                <a:lnTo>
                  <a:pt x="12916081" y="12916081"/>
                </a:lnTo>
                <a:lnTo>
                  <a:pt x="0" y="129160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6097505" y="5590242"/>
            <a:ext cx="14099419" cy="14099419"/>
          </a:xfrm>
          <a:custGeom>
            <a:avLst/>
            <a:gdLst/>
            <a:ahLst/>
            <a:cxnLst/>
            <a:rect l="l" t="t" r="r" b="b"/>
            <a:pathLst>
              <a:path w="14099419" h="14099419">
                <a:moveTo>
                  <a:pt x="0" y="0"/>
                </a:moveTo>
                <a:lnTo>
                  <a:pt x="14099419" y="0"/>
                </a:lnTo>
                <a:lnTo>
                  <a:pt x="14099419" y="14099419"/>
                </a:lnTo>
                <a:lnTo>
                  <a:pt x="0" y="140994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8757390" y="7522578"/>
            <a:ext cx="8779631" cy="1733979"/>
            <a:chOff x="0" y="0"/>
            <a:chExt cx="11706174" cy="2311972"/>
          </a:xfrm>
        </p:grpSpPr>
        <p:sp>
          <p:nvSpPr>
            <p:cNvPr id="7" name="Freeform 7"/>
            <p:cNvSpPr/>
            <p:nvPr/>
          </p:nvSpPr>
          <p:spPr>
            <a:xfrm>
              <a:off x="0" y="0"/>
              <a:ext cx="11706225" cy="2311908"/>
            </a:xfrm>
            <a:custGeom>
              <a:avLst/>
              <a:gdLst/>
              <a:ahLst/>
              <a:cxnLst/>
              <a:rect l="l" t="t" r="r" b="b"/>
              <a:pathLst>
                <a:path w="11706225" h="2311908">
                  <a:moveTo>
                    <a:pt x="0" y="0"/>
                  </a:moveTo>
                  <a:lnTo>
                    <a:pt x="11706225" y="0"/>
                  </a:lnTo>
                  <a:lnTo>
                    <a:pt x="11706225" y="2311908"/>
                  </a:lnTo>
                  <a:lnTo>
                    <a:pt x="0" y="2311908"/>
                  </a:lnTo>
                  <a:lnTo>
                    <a:pt x="0" y="0"/>
                  </a:lnTo>
                  <a:close/>
                </a:path>
              </a:pathLst>
            </a:custGeom>
            <a:blipFill>
              <a:blip r:embed="rId5"/>
              <a:stretch>
                <a:fillRect t="-132" b="-136"/>
              </a:stretch>
            </a:blipFill>
          </p:spPr>
          <p:txBody>
            <a:bodyPr/>
            <a:lstStyle/>
            <a:p>
              <a:endParaRPr lang="en-US"/>
            </a:p>
          </p:txBody>
        </p:sp>
      </p:grpSp>
      <p:grpSp>
        <p:nvGrpSpPr>
          <p:cNvPr id="8" name="Group 8"/>
          <p:cNvGrpSpPr/>
          <p:nvPr/>
        </p:nvGrpSpPr>
        <p:grpSpPr>
          <a:xfrm>
            <a:off x="9451467" y="3167939"/>
            <a:ext cx="7392943" cy="4958220"/>
            <a:chOff x="0" y="0"/>
            <a:chExt cx="9857257" cy="6610960"/>
          </a:xfrm>
        </p:grpSpPr>
        <p:sp>
          <p:nvSpPr>
            <p:cNvPr id="9" name="Freeform 9"/>
            <p:cNvSpPr/>
            <p:nvPr/>
          </p:nvSpPr>
          <p:spPr>
            <a:xfrm>
              <a:off x="0" y="0"/>
              <a:ext cx="9857232" cy="6610985"/>
            </a:xfrm>
            <a:custGeom>
              <a:avLst/>
              <a:gdLst/>
              <a:ahLst/>
              <a:cxnLst/>
              <a:rect l="l" t="t" r="r" b="b"/>
              <a:pathLst>
                <a:path w="9857232" h="6610985">
                  <a:moveTo>
                    <a:pt x="9509887" y="0"/>
                  </a:moveTo>
                  <a:lnTo>
                    <a:pt x="345440" y="0"/>
                  </a:lnTo>
                  <a:cubicBezTo>
                    <a:pt x="155194" y="0"/>
                    <a:pt x="0" y="155194"/>
                    <a:pt x="0" y="345440"/>
                  </a:cubicBezTo>
                  <a:lnTo>
                    <a:pt x="0" y="6610985"/>
                  </a:lnTo>
                  <a:lnTo>
                    <a:pt x="9857232" y="6610985"/>
                  </a:lnTo>
                  <a:lnTo>
                    <a:pt x="9857232" y="345440"/>
                  </a:lnTo>
                  <a:cubicBezTo>
                    <a:pt x="9855327" y="155194"/>
                    <a:pt x="9700133" y="0"/>
                    <a:pt x="9509887" y="0"/>
                  </a:cubicBezTo>
                  <a:close/>
                  <a:moveTo>
                    <a:pt x="9552559" y="6178296"/>
                  </a:moveTo>
                  <a:lnTo>
                    <a:pt x="300736" y="6178296"/>
                  </a:lnTo>
                  <a:lnTo>
                    <a:pt x="300736" y="390017"/>
                  </a:lnTo>
                  <a:lnTo>
                    <a:pt x="9552559" y="390017"/>
                  </a:lnTo>
                  <a:lnTo>
                    <a:pt x="9552559" y="6178296"/>
                  </a:lnTo>
                  <a:close/>
                </a:path>
              </a:pathLst>
            </a:custGeom>
            <a:solidFill>
              <a:srgbClr val="242424"/>
            </a:solidFill>
          </p:spPr>
          <p:txBody>
            <a:bodyPr/>
            <a:lstStyle/>
            <a:p>
              <a:endParaRPr lang="en-US"/>
            </a:p>
          </p:txBody>
        </p:sp>
      </p:grpSp>
      <p:sp>
        <p:nvSpPr>
          <p:cNvPr id="10" name="Freeform 10"/>
          <p:cNvSpPr/>
          <p:nvPr/>
        </p:nvSpPr>
        <p:spPr>
          <a:xfrm>
            <a:off x="8573919" y="3143202"/>
            <a:ext cx="9146581" cy="5205622"/>
          </a:xfrm>
          <a:custGeom>
            <a:avLst/>
            <a:gdLst/>
            <a:ahLst/>
            <a:cxnLst/>
            <a:rect l="l" t="t" r="r" b="b"/>
            <a:pathLst>
              <a:path w="9146581" h="5205622">
                <a:moveTo>
                  <a:pt x="0" y="0"/>
                </a:moveTo>
                <a:lnTo>
                  <a:pt x="9146581" y="0"/>
                </a:lnTo>
                <a:lnTo>
                  <a:pt x="9146581" y="5205622"/>
                </a:lnTo>
                <a:lnTo>
                  <a:pt x="0" y="520562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1" name="Group 11"/>
          <p:cNvGrpSpPr/>
          <p:nvPr/>
        </p:nvGrpSpPr>
        <p:grpSpPr>
          <a:xfrm>
            <a:off x="12539624" y="8127616"/>
            <a:ext cx="1213723" cy="110604"/>
            <a:chOff x="0" y="0"/>
            <a:chExt cx="1618298" cy="147472"/>
          </a:xfrm>
        </p:grpSpPr>
        <p:sp>
          <p:nvSpPr>
            <p:cNvPr id="12" name="Freeform 12"/>
            <p:cNvSpPr/>
            <p:nvPr/>
          </p:nvSpPr>
          <p:spPr>
            <a:xfrm>
              <a:off x="0" y="0"/>
              <a:ext cx="1618361" cy="147447"/>
            </a:xfrm>
            <a:custGeom>
              <a:avLst/>
              <a:gdLst/>
              <a:ahLst/>
              <a:cxnLst/>
              <a:rect l="l" t="t" r="r" b="b"/>
              <a:pathLst>
                <a:path w="1618361" h="147447">
                  <a:moveTo>
                    <a:pt x="147447" y="147447"/>
                  </a:moveTo>
                  <a:lnTo>
                    <a:pt x="1472819" y="147447"/>
                  </a:lnTo>
                  <a:cubicBezTo>
                    <a:pt x="1554353" y="147447"/>
                    <a:pt x="1618361" y="81534"/>
                    <a:pt x="1618361" y="1905"/>
                  </a:cubicBezTo>
                  <a:lnTo>
                    <a:pt x="1618361" y="0"/>
                  </a:lnTo>
                  <a:lnTo>
                    <a:pt x="0" y="0"/>
                  </a:lnTo>
                  <a:lnTo>
                    <a:pt x="0" y="1905"/>
                  </a:lnTo>
                  <a:cubicBezTo>
                    <a:pt x="0" y="81534"/>
                    <a:pt x="65913" y="147447"/>
                    <a:pt x="147447" y="147447"/>
                  </a:cubicBezTo>
                  <a:close/>
                </a:path>
              </a:pathLst>
            </a:custGeom>
            <a:solidFill>
              <a:srgbClr val="CCCCCC"/>
            </a:solidFill>
          </p:spPr>
          <p:txBody>
            <a:bodyPr/>
            <a:lstStyle/>
            <a:p>
              <a:endParaRPr lang="en-US"/>
            </a:p>
          </p:txBody>
        </p:sp>
      </p:grpSp>
      <p:grpSp>
        <p:nvGrpSpPr>
          <p:cNvPr id="13" name="Group 13"/>
          <p:cNvGrpSpPr/>
          <p:nvPr/>
        </p:nvGrpSpPr>
        <p:grpSpPr>
          <a:xfrm>
            <a:off x="8761647" y="8348824"/>
            <a:ext cx="8771115" cy="40748"/>
            <a:chOff x="0" y="0"/>
            <a:chExt cx="11694820" cy="54331"/>
          </a:xfrm>
        </p:grpSpPr>
        <p:sp>
          <p:nvSpPr>
            <p:cNvPr id="14" name="Freeform 14"/>
            <p:cNvSpPr/>
            <p:nvPr/>
          </p:nvSpPr>
          <p:spPr>
            <a:xfrm>
              <a:off x="0" y="0"/>
              <a:ext cx="11694922" cy="54356"/>
            </a:xfrm>
            <a:custGeom>
              <a:avLst/>
              <a:gdLst/>
              <a:ahLst/>
              <a:cxnLst/>
              <a:rect l="l" t="t" r="r" b="b"/>
              <a:pathLst>
                <a:path w="11694922" h="54356">
                  <a:moveTo>
                    <a:pt x="0" y="0"/>
                  </a:moveTo>
                  <a:cubicBezTo>
                    <a:pt x="0" y="30988"/>
                    <a:pt x="25273" y="54356"/>
                    <a:pt x="54356" y="54356"/>
                  </a:cubicBezTo>
                  <a:lnTo>
                    <a:pt x="11640566" y="54356"/>
                  </a:lnTo>
                  <a:cubicBezTo>
                    <a:pt x="11671553" y="54356"/>
                    <a:pt x="11694922" y="29083"/>
                    <a:pt x="11694922" y="0"/>
                  </a:cubicBezTo>
                  <a:lnTo>
                    <a:pt x="0" y="0"/>
                  </a:lnTo>
                  <a:close/>
                </a:path>
              </a:pathLst>
            </a:custGeom>
            <a:solidFill>
              <a:srgbClr val="CCCCCC"/>
            </a:solidFill>
          </p:spPr>
          <p:txBody>
            <a:bodyPr/>
            <a:lstStyle/>
            <a:p>
              <a:endParaRPr lang="en-US"/>
            </a:p>
          </p:txBody>
        </p:sp>
      </p:grpSp>
      <p:grpSp>
        <p:nvGrpSpPr>
          <p:cNvPr id="15" name="Group 15"/>
          <p:cNvGrpSpPr/>
          <p:nvPr/>
        </p:nvGrpSpPr>
        <p:grpSpPr>
          <a:xfrm>
            <a:off x="9677038" y="3460461"/>
            <a:ext cx="6938886" cy="4342628"/>
            <a:chOff x="0" y="0"/>
            <a:chExt cx="9251848" cy="5790171"/>
          </a:xfrm>
        </p:grpSpPr>
        <p:sp>
          <p:nvSpPr>
            <p:cNvPr id="16" name="Freeform 16"/>
            <p:cNvSpPr/>
            <p:nvPr/>
          </p:nvSpPr>
          <p:spPr>
            <a:xfrm>
              <a:off x="0" y="0"/>
              <a:ext cx="9251823" cy="5790184"/>
            </a:xfrm>
            <a:custGeom>
              <a:avLst/>
              <a:gdLst/>
              <a:ahLst/>
              <a:cxnLst/>
              <a:rect l="l" t="t" r="r" b="b"/>
              <a:pathLst>
                <a:path w="9251823" h="5790184">
                  <a:moveTo>
                    <a:pt x="0" y="0"/>
                  </a:moveTo>
                  <a:lnTo>
                    <a:pt x="9251823" y="0"/>
                  </a:lnTo>
                  <a:lnTo>
                    <a:pt x="9251823" y="5790184"/>
                  </a:lnTo>
                  <a:lnTo>
                    <a:pt x="0" y="5790184"/>
                  </a:lnTo>
                  <a:close/>
                </a:path>
              </a:pathLst>
            </a:custGeom>
            <a:blipFill>
              <a:blip r:embed="rId7"/>
              <a:stretch>
                <a:fillRect l="-18207" r="-18208"/>
              </a:stretch>
            </a:blipFill>
          </p:spPr>
          <p:txBody>
            <a:bodyPr/>
            <a:lstStyle/>
            <a:p>
              <a:endParaRPr lang="en-US"/>
            </a:p>
          </p:txBody>
        </p:sp>
      </p:grpSp>
      <p:sp>
        <p:nvSpPr>
          <p:cNvPr id="17" name="TextBox 17"/>
          <p:cNvSpPr txBox="1"/>
          <p:nvPr/>
        </p:nvSpPr>
        <p:spPr>
          <a:xfrm>
            <a:off x="599970" y="2778566"/>
            <a:ext cx="12751489" cy="1310640"/>
          </a:xfrm>
          <a:prstGeom prst="rect">
            <a:avLst/>
          </a:prstGeom>
        </p:spPr>
        <p:txBody>
          <a:bodyPr lIns="0" tIns="0" rIns="0" bIns="0" rtlCol="0" anchor="t">
            <a:spAutoFit/>
          </a:bodyPr>
          <a:lstStyle/>
          <a:p>
            <a:pPr algn="l">
              <a:lnSpc>
                <a:spcPts val="9660"/>
              </a:lnSpc>
            </a:pPr>
            <a:r>
              <a:rPr lang="en-US" sz="6900" b="1">
                <a:solidFill>
                  <a:srgbClr val="051D40"/>
                </a:solidFill>
                <a:latin typeface="Montserrat Bold" panose="00000800000000000000"/>
                <a:ea typeface="Montserrat Bold" panose="00000800000000000000"/>
                <a:cs typeface="Montserrat Bold" panose="00000800000000000000"/>
                <a:sym typeface="Montserrat Bold" panose="00000800000000000000"/>
              </a:rPr>
              <a:t>Aim of Project</a:t>
            </a:r>
          </a:p>
        </p:txBody>
      </p:sp>
      <p:grpSp>
        <p:nvGrpSpPr>
          <p:cNvPr id="18" name="Group 18"/>
          <p:cNvGrpSpPr/>
          <p:nvPr/>
        </p:nvGrpSpPr>
        <p:grpSpPr>
          <a:xfrm>
            <a:off x="268738" y="601628"/>
            <a:ext cx="2332682" cy="2332682"/>
            <a:chOff x="0" y="0"/>
            <a:chExt cx="3110243" cy="3110243"/>
          </a:xfrm>
        </p:grpSpPr>
        <p:sp>
          <p:nvSpPr>
            <p:cNvPr id="19" name="Freeform 19"/>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8"/>
              <a:stretch>
                <a:fillRect t="-16666" b="-16667"/>
              </a:stretch>
            </a:blip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7012038" y="-2801655"/>
            <a:ext cx="15890310" cy="15890310"/>
          </a:xfrm>
          <a:custGeom>
            <a:avLst/>
            <a:gdLst/>
            <a:ahLst/>
            <a:cxnLst/>
            <a:rect l="l" t="t" r="r" b="b"/>
            <a:pathLst>
              <a:path w="15890310" h="15890310">
                <a:moveTo>
                  <a:pt x="0" y="0"/>
                </a:moveTo>
                <a:lnTo>
                  <a:pt x="15890310" y="0"/>
                </a:lnTo>
                <a:lnTo>
                  <a:pt x="15890310" y="15890310"/>
                </a:lnTo>
                <a:lnTo>
                  <a:pt x="0" y="158903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6007846" y="-1797463"/>
            <a:ext cx="13881916" cy="13881916"/>
          </a:xfrm>
          <a:custGeom>
            <a:avLst/>
            <a:gdLst/>
            <a:ahLst/>
            <a:cxnLst/>
            <a:rect l="l" t="t" r="r" b="b"/>
            <a:pathLst>
              <a:path w="13881916" h="13881916">
                <a:moveTo>
                  <a:pt x="0" y="0"/>
                </a:moveTo>
                <a:lnTo>
                  <a:pt x="13881916" y="0"/>
                </a:lnTo>
                <a:lnTo>
                  <a:pt x="13881916" y="13881916"/>
                </a:lnTo>
                <a:lnTo>
                  <a:pt x="0" y="138819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3984689"/>
            <a:ext cx="6033364" cy="1202541"/>
          </a:xfrm>
          <a:prstGeom prst="rect">
            <a:avLst/>
          </a:prstGeom>
        </p:spPr>
        <p:txBody>
          <a:bodyPr lIns="0" tIns="0" rIns="0" bIns="0" rtlCol="0" anchor="t">
            <a:spAutoFit/>
          </a:bodyPr>
          <a:lstStyle/>
          <a:p>
            <a:pPr algn="l">
              <a:lnSpc>
                <a:spcPts val="8795"/>
              </a:lnSpc>
            </a:pPr>
            <a:r>
              <a:rPr lang="en-US" sz="6280" b="1">
                <a:solidFill>
                  <a:srgbClr val="FDFDFD"/>
                </a:solidFill>
                <a:latin typeface="Montserrat Bold" panose="00000800000000000000"/>
                <a:ea typeface="Montserrat Bold" panose="00000800000000000000"/>
                <a:cs typeface="Montserrat Bold" panose="00000800000000000000"/>
                <a:sym typeface="Montserrat Bold" panose="00000800000000000000"/>
              </a:rPr>
              <a:t>Objectives</a:t>
            </a:r>
          </a:p>
        </p:txBody>
      </p:sp>
      <p:sp>
        <p:nvSpPr>
          <p:cNvPr id="5" name="Freeform 5"/>
          <p:cNvSpPr/>
          <p:nvPr/>
        </p:nvSpPr>
        <p:spPr>
          <a:xfrm>
            <a:off x="8644966" y="994581"/>
            <a:ext cx="1424254" cy="1424254"/>
          </a:xfrm>
          <a:custGeom>
            <a:avLst/>
            <a:gdLst/>
            <a:ahLst/>
            <a:cxnLst/>
            <a:rect l="l" t="t" r="r" b="b"/>
            <a:pathLst>
              <a:path w="1424254" h="1424254">
                <a:moveTo>
                  <a:pt x="0" y="0"/>
                </a:moveTo>
                <a:lnTo>
                  <a:pt x="1424254" y="0"/>
                </a:lnTo>
                <a:lnTo>
                  <a:pt x="1424254" y="1424255"/>
                </a:lnTo>
                <a:lnTo>
                  <a:pt x="0" y="14242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10249567" y="960425"/>
            <a:ext cx="7756141" cy="1372667"/>
          </a:xfrm>
          <a:prstGeom prst="rect">
            <a:avLst/>
          </a:prstGeom>
        </p:spPr>
        <p:txBody>
          <a:bodyPr lIns="0" tIns="0" rIns="0" bIns="0" rtlCol="0" anchor="t">
            <a:spAutoFit/>
          </a:bodyPr>
          <a:lstStyle/>
          <a:p>
            <a:pPr algn="l">
              <a:lnSpc>
                <a:spcPts val="3615"/>
              </a:lnSpc>
            </a:pPr>
            <a:r>
              <a:rPr lang="en-US" sz="2580" b="1" spc="-50">
                <a:solidFill>
                  <a:srgbClr val="000000"/>
                </a:solidFill>
                <a:latin typeface="Poppins Bold" panose="00000800000000000000"/>
                <a:ea typeface="Poppins Bold" panose="00000800000000000000"/>
                <a:cs typeface="Poppins Bold" panose="00000800000000000000"/>
                <a:sym typeface="Poppins Bold" panose="00000800000000000000"/>
              </a:rPr>
              <a:t>Develop a differential drive mobile robot equipped with onboard sensors (RPLidar A1 and MPU6050) for real-time mapping using SLAM</a:t>
            </a:r>
          </a:p>
        </p:txBody>
      </p:sp>
      <p:sp>
        <p:nvSpPr>
          <p:cNvPr id="7" name="Freeform 7"/>
          <p:cNvSpPr/>
          <p:nvPr/>
        </p:nvSpPr>
        <p:spPr>
          <a:xfrm>
            <a:off x="9144000" y="2742686"/>
            <a:ext cx="1424254" cy="1424254"/>
          </a:xfrm>
          <a:custGeom>
            <a:avLst/>
            <a:gdLst/>
            <a:ahLst/>
            <a:cxnLst/>
            <a:rect l="l" t="t" r="r" b="b"/>
            <a:pathLst>
              <a:path w="1424254" h="1424254">
                <a:moveTo>
                  <a:pt x="0" y="0"/>
                </a:moveTo>
                <a:lnTo>
                  <a:pt x="1424254" y="0"/>
                </a:lnTo>
                <a:lnTo>
                  <a:pt x="1424254" y="1424254"/>
                </a:lnTo>
                <a:lnTo>
                  <a:pt x="0" y="14242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9289056" y="2939691"/>
            <a:ext cx="1134142" cy="828742"/>
          </a:xfrm>
          <a:prstGeom prst="rect">
            <a:avLst/>
          </a:prstGeom>
        </p:spPr>
        <p:txBody>
          <a:bodyPr lIns="0" tIns="0" rIns="0" bIns="0" rtlCol="0" anchor="t">
            <a:spAutoFit/>
          </a:bodyPr>
          <a:lstStyle/>
          <a:p>
            <a:pPr algn="ctr">
              <a:lnSpc>
                <a:spcPts val="6295"/>
              </a:lnSpc>
            </a:pPr>
            <a:r>
              <a:rPr lang="en-US" sz="4495">
                <a:solidFill>
                  <a:srgbClr val="FDFDFD"/>
                </a:solidFill>
                <a:latin typeface="Montserrat" panose="00000500000000000000"/>
                <a:ea typeface="Montserrat" panose="00000500000000000000"/>
                <a:cs typeface="Montserrat" panose="00000500000000000000"/>
                <a:sym typeface="Montserrat" panose="00000500000000000000"/>
              </a:rPr>
              <a:t>02</a:t>
            </a:r>
          </a:p>
        </p:txBody>
      </p:sp>
      <p:sp>
        <p:nvSpPr>
          <p:cNvPr id="9" name="Freeform 9"/>
          <p:cNvSpPr/>
          <p:nvPr/>
        </p:nvSpPr>
        <p:spPr>
          <a:xfrm>
            <a:off x="9144000" y="4519365"/>
            <a:ext cx="1424254" cy="1424254"/>
          </a:xfrm>
          <a:custGeom>
            <a:avLst/>
            <a:gdLst/>
            <a:ahLst/>
            <a:cxnLst/>
            <a:rect l="l" t="t" r="r" b="b"/>
            <a:pathLst>
              <a:path w="1424254" h="1424254">
                <a:moveTo>
                  <a:pt x="0" y="0"/>
                </a:moveTo>
                <a:lnTo>
                  <a:pt x="1424254" y="0"/>
                </a:lnTo>
                <a:lnTo>
                  <a:pt x="1424254" y="1424254"/>
                </a:lnTo>
                <a:lnTo>
                  <a:pt x="0" y="14242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TextBox 10"/>
          <p:cNvSpPr txBox="1"/>
          <p:nvPr/>
        </p:nvSpPr>
        <p:spPr>
          <a:xfrm>
            <a:off x="9289056" y="4716380"/>
            <a:ext cx="1134142" cy="828742"/>
          </a:xfrm>
          <a:prstGeom prst="rect">
            <a:avLst/>
          </a:prstGeom>
        </p:spPr>
        <p:txBody>
          <a:bodyPr lIns="0" tIns="0" rIns="0" bIns="0" rtlCol="0" anchor="t">
            <a:spAutoFit/>
          </a:bodyPr>
          <a:lstStyle/>
          <a:p>
            <a:pPr algn="ctr">
              <a:lnSpc>
                <a:spcPts val="6295"/>
              </a:lnSpc>
            </a:pPr>
            <a:r>
              <a:rPr lang="en-US" sz="4495">
                <a:solidFill>
                  <a:srgbClr val="FDFDFD"/>
                </a:solidFill>
                <a:latin typeface="Montserrat" panose="00000500000000000000"/>
                <a:ea typeface="Montserrat" panose="00000500000000000000"/>
                <a:cs typeface="Montserrat" panose="00000500000000000000"/>
                <a:sym typeface="Montserrat" panose="00000500000000000000"/>
              </a:rPr>
              <a:t>03</a:t>
            </a:r>
          </a:p>
        </p:txBody>
      </p:sp>
      <p:sp>
        <p:nvSpPr>
          <p:cNvPr id="11" name="Freeform 11"/>
          <p:cNvSpPr/>
          <p:nvPr/>
        </p:nvSpPr>
        <p:spPr>
          <a:xfrm>
            <a:off x="8970369" y="6377007"/>
            <a:ext cx="1424254" cy="1424254"/>
          </a:xfrm>
          <a:custGeom>
            <a:avLst/>
            <a:gdLst/>
            <a:ahLst/>
            <a:cxnLst/>
            <a:rect l="l" t="t" r="r" b="b"/>
            <a:pathLst>
              <a:path w="1424254" h="1424254">
                <a:moveTo>
                  <a:pt x="0" y="0"/>
                </a:moveTo>
                <a:lnTo>
                  <a:pt x="1424254" y="0"/>
                </a:lnTo>
                <a:lnTo>
                  <a:pt x="1424254" y="1424254"/>
                </a:lnTo>
                <a:lnTo>
                  <a:pt x="0" y="14242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TextBox 12"/>
          <p:cNvSpPr txBox="1"/>
          <p:nvPr/>
        </p:nvSpPr>
        <p:spPr>
          <a:xfrm>
            <a:off x="9115425" y="6574022"/>
            <a:ext cx="1134142" cy="828742"/>
          </a:xfrm>
          <a:prstGeom prst="rect">
            <a:avLst/>
          </a:prstGeom>
        </p:spPr>
        <p:txBody>
          <a:bodyPr lIns="0" tIns="0" rIns="0" bIns="0" rtlCol="0" anchor="t">
            <a:spAutoFit/>
          </a:bodyPr>
          <a:lstStyle/>
          <a:p>
            <a:pPr algn="ctr">
              <a:lnSpc>
                <a:spcPts val="6295"/>
              </a:lnSpc>
            </a:pPr>
            <a:r>
              <a:rPr lang="en-US" sz="4495">
                <a:solidFill>
                  <a:srgbClr val="FDFDFD"/>
                </a:solidFill>
                <a:latin typeface="Montserrat" panose="00000500000000000000"/>
                <a:ea typeface="Montserrat" panose="00000500000000000000"/>
                <a:cs typeface="Montserrat" panose="00000500000000000000"/>
                <a:sym typeface="Montserrat" panose="00000500000000000000"/>
              </a:rPr>
              <a:t>04</a:t>
            </a:r>
          </a:p>
        </p:txBody>
      </p:sp>
      <p:sp>
        <p:nvSpPr>
          <p:cNvPr id="13" name="Freeform 13"/>
          <p:cNvSpPr/>
          <p:nvPr/>
        </p:nvSpPr>
        <p:spPr>
          <a:xfrm>
            <a:off x="7896701" y="2647274"/>
            <a:ext cx="391116" cy="391116"/>
          </a:xfrm>
          <a:custGeom>
            <a:avLst/>
            <a:gdLst/>
            <a:ahLst/>
            <a:cxnLst/>
            <a:rect l="l" t="t" r="r" b="b"/>
            <a:pathLst>
              <a:path w="391116" h="391116">
                <a:moveTo>
                  <a:pt x="0" y="0"/>
                </a:moveTo>
                <a:lnTo>
                  <a:pt x="391116" y="0"/>
                </a:lnTo>
                <a:lnTo>
                  <a:pt x="391116" y="391115"/>
                </a:lnTo>
                <a:lnTo>
                  <a:pt x="0" y="39111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4" name="Freeform 14"/>
          <p:cNvSpPr/>
          <p:nvPr/>
        </p:nvSpPr>
        <p:spPr>
          <a:xfrm>
            <a:off x="8306552" y="4171731"/>
            <a:ext cx="391116" cy="391116"/>
          </a:xfrm>
          <a:custGeom>
            <a:avLst/>
            <a:gdLst/>
            <a:ahLst/>
            <a:cxnLst/>
            <a:rect l="l" t="t" r="r" b="b"/>
            <a:pathLst>
              <a:path w="391116" h="391116">
                <a:moveTo>
                  <a:pt x="0" y="0"/>
                </a:moveTo>
                <a:lnTo>
                  <a:pt x="391116" y="0"/>
                </a:lnTo>
                <a:lnTo>
                  <a:pt x="391116" y="391115"/>
                </a:lnTo>
                <a:lnTo>
                  <a:pt x="0" y="39111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Freeform 15"/>
          <p:cNvSpPr/>
          <p:nvPr/>
        </p:nvSpPr>
        <p:spPr>
          <a:xfrm>
            <a:off x="7935468" y="7394086"/>
            <a:ext cx="391116" cy="391116"/>
          </a:xfrm>
          <a:custGeom>
            <a:avLst/>
            <a:gdLst/>
            <a:ahLst/>
            <a:cxnLst/>
            <a:rect l="l" t="t" r="r" b="b"/>
            <a:pathLst>
              <a:path w="391116" h="391116">
                <a:moveTo>
                  <a:pt x="0" y="0"/>
                </a:moveTo>
                <a:lnTo>
                  <a:pt x="391116" y="0"/>
                </a:lnTo>
                <a:lnTo>
                  <a:pt x="391116" y="391116"/>
                </a:lnTo>
                <a:lnTo>
                  <a:pt x="0" y="3911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6"/>
          <p:cNvSpPr/>
          <p:nvPr/>
        </p:nvSpPr>
        <p:spPr>
          <a:xfrm>
            <a:off x="8300704" y="5751728"/>
            <a:ext cx="391116" cy="391116"/>
          </a:xfrm>
          <a:custGeom>
            <a:avLst/>
            <a:gdLst/>
            <a:ahLst/>
            <a:cxnLst/>
            <a:rect l="l" t="t" r="r" b="b"/>
            <a:pathLst>
              <a:path w="391116" h="391116">
                <a:moveTo>
                  <a:pt x="0" y="0"/>
                </a:moveTo>
                <a:lnTo>
                  <a:pt x="391116" y="0"/>
                </a:lnTo>
                <a:lnTo>
                  <a:pt x="391116" y="391116"/>
                </a:lnTo>
                <a:lnTo>
                  <a:pt x="0" y="3911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8463515" y="8201311"/>
            <a:ext cx="1424254" cy="1424254"/>
          </a:xfrm>
          <a:custGeom>
            <a:avLst/>
            <a:gdLst/>
            <a:ahLst/>
            <a:cxnLst/>
            <a:rect l="l" t="t" r="r" b="b"/>
            <a:pathLst>
              <a:path w="1424254" h="1424254">
                <a:moveTo>
                  <a:pt x="0" y="0"/>
                </a:moveTo>
                <a:lnTo>
                  <a:pt x="1424254" y="0"/>
                </a:lnTo>
                <a:lnTo>
                  <a:pt x="1424254" y="1424254"/>
                </a:lnTo>
                <a:lnTo>
                  <a:pt x="0" y="14242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p:cNvSpPr txBox="1"/>
          <p:nvPr/>
        </p:nvSpPr>
        <p:spPr>
          <a:xfrm>
            <a:off x="8608581" y="8398326"/>
            <a:ext cx="1134142" cy="828742"/>
          </a:xfrm>
          <a:prstGeom prst="rect">
            <a:avLst/>
          </a:prstGeom>
        </p:spPr>
        <p:txBody>
          <a:bodyPr lIns="0" tIns="0" rIns="0" bIns="0" rtlCol="0" anchor="t">
            <a:spAutoFit/>
          </a:bodyPr>
          <a:lstStyle/>
          <a:p>
            <a:pPr algn="ctr">
              <a:lnSpc>
                <a:spcPts val="6295"/>
              </a:lnSpc>
            </a:pPr>
            <a:r>
              <a:rPr lang="en-US" sz="4495">
                <a:solidFill>
                  <a:srgbClr val="FDFDFD"/>
                </a:solidFill>
                <a:latin typeface="Montserrat" panose="00000500000000000000"/>
                <a:ea typeface="Montserrat" panose="00000500000000000000"/>
                <a:cs typeface="Montserrat" panose="00000500000000000000"/>
                <a:sym typeface="Montserrat" panose="00000500000000000000"/>
              </a:rPr>
              <a:t>05</a:t>
            </a:r>
          </a:p>
        </p:txBody>
      </p:sp>
      <p:sp>
        <p:nvSpPr>
          <p:cNvPr id="19" name="TextBox 19"/>
          <p:cNvSpPr txBox="1"/>
          <p:nvPr/>
        </p:nvSpPr>
        <p:spPr>
          <a:xfrm>
            <a:off x="10372420" y="8186214"/>
            <a:ext cx="7583824" cy="1829867"/>
          </a:xfrm>
          <a:prstGeom prst="rect">
            <a:avLst/>
          </a:prstGeom>
        </p:spPr>
        <p:txBody>
          <a:bodyPr lIns="0" tIns="0" rIns="0" bIns="0" rtlCol="0" anchor="t">
            <a:spAutoFit/>
          </a:bodyPr>
          <a:lstStyle/>
          <a:p>
            <a:pPr algn="l">
              <a:lnSpc>
                <a:spcPts val="3615"/>
              </a:lnSpc>
            </a:pPr>
            <a:r>
              <a:rPr lang="en-US" sz="2580" b="1" spc="-50">
                <a:solidFill>
                  <a:srgbClr val="000000"/>
                </a:solidFill>
                <a:latin typeface="Poppins Bold" panose="00000800000000000000"/>
                <a:ea typeface="Poppins Bold" panose="00000800000000000000"/>
                <a:cs typeface="Poppins Bold" panose="00000800000000000000"/>
                <a:sym typeface="Poppins Bold" panose="00000800000000000000"/>
              </a:rPr>
              <a:t>Evaluate system performance using metrics such as mapping accuracy, path planning success rate, and obstacle avoidance reliability.</a:t>
            </a:r>
          </a:p>
        </p:txBody>
      </p:sp>
      <p:sp>
        <p:nvSpPr>
          <p:cNvPr id="20" name="TextBox 20"/>
          <p:cNvSpPr txBox="1"/>
          <p:nvPr/>
        </p:nvSpPr>
        <p:spPr>
          <a:xfrm>
            <a:off x="8790022" y="1161469"/>
            <a:ext cx="1134142" cy="828742"/>
          </a:xfrm>
          <a:prstGeom prst="rect">
            <a:avLst/>
          </a:prstGeom>
        </p:spPr>
        <p:txBody>
          <a:bodyPr lIns="0" tIns="0" rIns="0" bIns="0" rtlCol="0" anchor="t">
            <a:spAutoFit/>
          </a:bodyPr>
          <a:lstStyle/>
          <a:p>
            <a:pPr algn="ctr">
              <a:lnSpc>
                <a:spcPts val="6295"/>
              </a:lnSpc>
            </a:pPr>
            <a:r>
              <a:rPr lang="en-US" sz="4495">
                <a:solidFill>
                  <a:srgbClr val="FDFDFD"/>
                </a:solidFill>
                <a:latin typeface="Montserrat" panose="00000500000000000000"/>
                <a:ea typeface="Montserrat" panose="00000500000000000000"/>
                <a:cs typeface="Montserrat" panose="00000500000000000000"/>
                <a:sym typeface="Montserrat" panose="00000500000000000000"/>
              </a:rPr>
              <a:t>01</a:t>
            </a:r>
          </a:p>
        </p:txBody>
      </p:sp>
      <p:sp>
        <p:nvSpPr>
          <p:cNvPr id="21" name="TextBox 21"/>
          <p:cNvSpPr txBox="1"/>
          <p:nvPr/>
        </p:nvSpPr>
        <p:spPr>
          <a:xfrm>
            <a:off x="10740580" y="2753935"/>
            <a:ext cx="7087914" cy="1355192"/>
          </a:xfrm>
          <a:prstGeom prst="rect">
            <a:avLst/>
          </a:prstGeom>
        </p:spPr>
        <p:txBody>
          <a:bodyPr lIns="0" tIns="0" rIns="0" bIns="0" rtlCol="0" anchor="t">
            <a:spAutoFit/>
          </a:bodyPr>
          <a:lstStyle/>
          <a:p>
            <a:pPr algn="l">
              <a:lnSpc>
                <a:spcPts val="3525"/>
              </a:lnSpc>
            </a:pPr>
            <a:r>
              <a:rPr lang="en-US" sz="2520" b="1" spc="-49">
                <a:solidFill>
                  <a:srgbClr val="000000"/>
                </a:solidFill>
                <a:latin typeface="Poppins Bold" panose="00000800000000000000"/>
                <a:ea typeface="Poppins Bold" panose="00000800000000000000"/>
                <a:cs typeface="Poppins Bold" panose="00000800000000000000"/>
                <a:sym typeface="Poppins Bold" panose="00000800000000000000"/>
              </a:rPr>
              <a:t>Enable autonomous navigation in unknown environments by integrating the Nav2 stack for path planning and obstacle avoidance.</a:t>
            </a:r>
          </a:p>
        </p:txBody>
      </p:sp>
      <p:sp>
        <p:nvSpPr>
          <p:cNvPr id="22" name="TextBox 22"/>
          <p:cNvSpPr txBox="1"/>
          <p:nvPr/>
        </p:nvSpPr>
        <p:spPr>
          <a:xfrm>
            <a:off x="10740580" y="4893366"/>
            <a:ext cx="7265127" cy="915467"/>
          </a:xfrm>
          <a:prstGeom prst="rect">
            <a:avLst/>
          </a:prstGeom>
        </p:spPr>
        <p:txBody>
          <a:bodyPr lIns="0" tIns="0" rIns="0" bIns="0" rtlCol="0" anchor="t">
            <a:spAutoFit/>
          </a:bodyPr>
          <a:lstStyle/>
          <a:p>
            <a:pPr algn="l">
              <a:lnSpc>
                <a:spcPts val="3615"/>
              </a:lnSpc>
            </a:pPr>
            <a:r>
              <a:rPr lang="en-US" sz="2580" b="1" spc="-50">
                <a:solidFill>
                  <a:srgbClr val="000000"/>
                </a:solidFill>
                <a:latin typeface="Poppins Bold" panose="00000800000000000000"/>
                <a:ea typeface="Poppins Bold" panose="00000800000000000000"/>
                <a:cs typeface="Poppins Bold" panose="00000800000000000000"/>
                <a:sym typeface="Poppins Bold" panose="00000800000000000000"/>
              </a:rPr>
              <a:t>Perform real time obstacle detection using RPLidar A1 .</a:t>
            </a:r>
          </a:p>
        </p:txBody>
      </p:sp>
      <p:sp>
        <p:nvSpPr>
          <p:cNvPr id="23" name="TextBox 23"/>
          <p:cNvSpPr txBox="1"/>
          <p:nvPr/>
        </p:nvSpPr>
        <p:spPr>
          <a:xfrm>
            <a:off x="10568254" y="6412535"/>
            <a:ext cx="7192147" cy="1372667"/>
          </a:xfrm>
          <a:prstGeom prst="rect">
            <a:avLst/>
          </a:prstGeom>
        </p:spPr>
        <p:txBody>
          <a:bodyPr lIns="0" tIns="0" rIns="0" bIns="0" rtlCol="0" anchor="t">
            <a:spAutoFit/>
          </a:bodyPr>
          <a:lstStyle/>
          <a:p>
            <a:pPr algn="l">
              <a:lnSpc>
                <a:spcPts val="3615"/>
              </a:lnSpc>
            </a:pPr>
            <a:r>
              <a:rPr lang="en-US" sz="2580" b="1" spc="-50">
                <a:solidFill>
                  <a:srgbClr val="000000"/>
                </a:solidFill>
                <a:latin typeface="Poppins Bold" panose="00000800000000000000"/>
                <a:ea typeface="Poppins Bold" panose="00000800000000000000"/>
                <a:cs typeface="Poppins Bold" panose="00000800000000000000"/>
                <a:sym typeface="Poppins Bold" panose="00000800000000000000"/>
              </a:rPr>
              <a:t>Establish wireless communication via ROS 2 over WiFi for real time monitoring and teleoperation.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8605" y="3067685"/>
            <a:ext cx="17577435" cy="6450330"/>
            <a:chOff x="0" y="0"/>
            <a:chExt cx="23436783" cy="6975092"/>
          </a:xfrm>
        </p:grpSpPr>
        <p:sp>
          <p:nvSpPr>
            <p:cNvPr id="3" name="Freeform 3"/>
            <p:cNvSpPr/>
            <p:nvPr/>
          </p:nvSpPr>
          <p:spPr>
            <a:xfrm rot="-24000">
              <a:off x="-24062" y="-81724"/>
              <a:ext cx="23484958" cy="7138541"/>
            </a:xfrm>
            <a:custGeom>
              <a:avLst/>
              <a:gdLst/>
              <a:ahLst/>
              <a:cxnLst/>
              <a:rect l="l" t="t" r="r" b="b"/>
              <a:pathLst>
                <a:path w="23484958" h="7138541">
                  <a:moveTo>
                    <a:pt x="48695" y="0"/>
                  </a:moveTo>
                  <a:lnTo>
                    <a:pt x="23484958" y="163618"/>
                  </a:lnTo>
                  <a:lnTo>
                    <a:pt x="23436264" y="7138540"/>
                  </a:lnTo>
                  <a:lnTo>
                    <a:pt x="0" y="6974922"/>
                  </a:lnTo>
                  <a:lnTo>
                    <a:pt x="48695" y="0"/>
                  </a:lnTo>
                  <a:close/>
                </a:path>
              </a:pathLst>
            </a:custGeom>
            <a:blipFill>
              <a:blip r:embed="rId2"/>
              <a:stretch>
                <a:fillRect l="-358" t="-7538" b="-8020"/>
              </a:stretch>
            </a:blipFill>
          </p:spPr>
          <p:txBody>
            <a:bodyPr/>
            <a:lstStyle/>
            <a:p>
              <a:endParaRPr lang="en-US"/>
            </a:p>
          </p:txBody>
        </p:sp>
      </p:grpSp>
      <p:sp>
        <p:nvSpPr>
          <p:cNvPr id="4" name="TextBox 4"/>
          <p:cNvSpPr txBox="1"/>
          <p:nvPr/>
        </p:nvSpPr>
        <p:spPr>
          <a:xfrm>
            <a:off x="1722130" y="1161479"/>
            <a:ext cx="15733605" cy="1194689"/>
          </a:xfrm>
          <a:prstGeom prst="rect">
            <a:avLst/>
          </a:prstGeom>
        </p:spPr>
        <p:txBody>
          <a:bodyPr lIns="0" tIns="0" rIns="0" bIns="0" rtlCol="0" anchor="t">
            <a:spAutoFit/>
          </a:bodyPr>
          <a:lstStyle/>
          <a:p>
            <a:pPr algn="ctr">
              <a:lnSpc>
                <a:spcPts val="9750"/>
              </a:lnSpc>
            </a:pPr>
            <a:r>
              <a:rPr lang="en-US" sz="6965" b="1">
                <a:solidFill>
                  <a:srgbClr val="051D40"/>
                </a:solidFill>
                <a:latin typeface="Montserrat Bold" panose="00000800000000000000"/>
                <a:ea typeface="Montserrat Bold" panose="00000800000000000000"/>
                <a:cs typeface="Montserrat Bold" panose="00000800000000000000"/>
                <a:sym typeface="Montserrat Bold" panose="00000800000000000000"/>
              </a:rPr>
              <a:t>Literature Review</a:t>
            </a:r>
          </a:p>
        </p:txBody>
      </p:sp>
      <p:grpSp>
        <p:nvGrpSpPr>
          <p:cNvPr id="5" name="Group 5"/>
          <p:cNvGrpSpPr/>
          <p:nvPr/>
        </p:nvGrpSpPr>
        <p:grpSpPr>
          <a:xfrm>
            <a:off x="268738" y="601628"/>
            <a:ext cx="2332682" cy="2332682"/>
            <a:chOff x="0" y="0"/>
            <a:chExt cx="3110243" cy="3110243"/>
          </a:xfrm>
        </p:grpSpPr>
        <p:sp>
          <p:nvSpPr>
            <p:cNvPr id="6" name="Freeform 6"/>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3"/>
              <a:stretch>
                <a:fillRect t="-16666" b="-16667"/>
              </a:stretch>
            </a:blipFill>
          </p:spPr>
          <p:txBody>
            <a:bodyP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273313" y="781050"/>
            <a:ext cx="14323019" cy="2529211"/>
          </a:xfrm>
          <a:prstGeom prst="rect">
            <a:avLst/>
          </a:prstGeom>
        </p:spPr>
        <p:txBody>
          <a:bodyPr lIns="0" tIns="0" rIns="0" bIns="0" rtlCol="0" anchor="t">
            <a:spAutoFit/>
          </a:bodyPr>
          <a:lstStyle/>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 SOFTWARE &amp; SIMULATION TOOLS</a:t>
            </a:r>
          </a:p>
        </p:txBody>
      </p:sp>
      <p:sp>
        <p:nvSpPr>
          <p:cNvPr id="3" name="Freeform 3"/>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747855" y="3756336"/>
            <a:ext cx="19407911" cy="5997483"/>
          </a:xfrm>
          <a:prstGeom prst="rect">
            <a:avLst/>
          </a:prstGeom>
        </p:spPr>
        <p:txBody>
          <a:bodyPr lIns="0" tIns="0" rIns="0" bIns="0" rtlCol="0" anchor="t">
            <a:spAutoFit/>
          </a:bodyPr>
          <a:lstStyle/>
          <a:p>
            <a:pPr marL="840740" lvl="2" indent="-280035" algn="l">
              <a:lnSpc>
                <a:spcPts val="5150"/>
              </a:lnSpc>
              <a:buFont typeface="Arial" panose="020B0604020202020204"/>
              <a:buChar char="⚬"/>
            </a:pPr>
            <a:r>
              <a:rPr lang="en-US" sz="3680" spc="-73">
                <a:solidFill>
                  <a:srgbClr val="051D40"/>
                </a:solidFill>
                <a:latin typeface="Poppins" panose="00000500000000000000"/>
                <a:ea typeface="Poppins" panose="00000500000000000000"/>
                <a:cs typeface="Poppins" panose="00000500000000000000"/>
                <a:sym typeface="Poppins" panose="00000500000000000000"/>
              </a:rPr>
              <a:t>Operating System: Ubuntu 22.04</a:t>
            </a:r>
          </a:p>
          <a:p>
            <a:pPr marL="840740" lvl="2" indent="-280035" algn="l">
              <a:lnSpc>
                <a:spcPts val="5150"/>
              </a:lnSpc>
              <a:buFont typeface="Arial" panose="020B0604020202020204"/>
              <a:buChar char="⚬"/>
            </a:pPr>
            <a:r>
              <a:rPr lang="en-US" sz="3680" spc="-73">
                <a:solidFill>
                  <a:srgbClr val="051D40"/>
                </a:solidFill>
                <a:latin typeface="Poppins" panose="00000500000000000000"/>
                <a:ea typeface="Poppins" panose="00000500000000000000"/>
                <a:cs typeface="Poppins" panose="00000500000000000000"/>
                <a:sym typeface="Poppins" panose="00000500000000000000"/>
              </a:rPr>
              <a:t>Middleware: ROS2 Humble</a:t>
            </a:r>
          </a:p>
          <a:p>
            <a:pPr marL="840740" lvl="2" indent="-280035" algn="l">
              <a:lnSpc>
                <a:spcPts val="5150"/>
              </a:lnSpc>
              <a:buFont typeface="Arial" panose="020B0604020202020204"/>
              <a:buChar char="⚬"/>
            </a:pPr>
            <a:r>
              <a:rPr lang="en-US" sz="3680" spc="-73">
                <a:solidFill>
                  <a:srgbClr val="051D40"/>
                </a:solidFill>
                <a:latin typeface="Poppins" panose="00000500000000000000"/>
                <a:ea typeface="Poppins" panose="00000500000000000000"/>
                <a:cs typeface="Poppins" panose="00000500000000000000"/>
                <a:sym typeface="Poppins" panose="00000500000000000000"/>
              </a:rPr>
              <a:t>Simulator: Gazebo</a:t>
            </a:r>
          </a:p>
          <a:p>
            <a:pPr marL="840740" lvl="2" indent="-280035" algn="l">
              <a:lnSpc>
                <a:spcPts val="5150"/>
              </a:lnSpc>
              <a:buFont typeface="Arial" panose="020B0604020202020204"/>
              <a:buChar char="⚬"/>
            </a:pPr>
            <a:r>
              <a:rPr lang="en-US" sz="3680" spc="-73">
                <a:solidFill>
                  <a:srgbClr val="051D40"/>
                </a:solidFill>
                <a:latin typeface="Poppins" panose="00000500000000000000"/>
                <a:ea typeface="Poppins" panose="00000500000000000000"/>
                <a:cs typeface="Poppins" panose="00000500000000000000"/>
                <a:sym typeface="Poppins" panose="00000500000000000000"/>
              </a:rPr>
              <a:t>Visualization Tool: RViz2</a:t>
            </a:r>
          </a:p>
          <a:p>
            <a:pPr marL="840740" lvl="2" indent="-280035" algn="l">
              <a:lnSpc>
                <a:spcPts val="5150"/>
              </a:lnSpc>
              <a:buFont typeface="Arial" panose="020B0604020202020204"/>
              <a:buChar char="⚬"/>
            </a:pPr>
            <a:r>
              <a:rPr lang="en-US" sz="3680" spc="-73">
                <a:solidFill>
                  <a:srgbClr val="051D40"/>
                </a:solidFill>
                <a:latin typeface="Poppins" panose="00000500000000000000"/>
                <a:ea typeface="Poppins" panose="00000500000000000000"/>
                <a:cs typeface="Poppins" panose="00000500000000000000"/>
                <a:sym typeface="Poppins" panose="00000500000000000000"/>
              </a:rPr>
              <a:t>SLAM Package: SLAM Toolbox</a:t>
            </a:r>
          </a:p>
          <a:p>
            <a:pPr marL="840740" lvl="2" indent="-280035" algn="l">
              <a:lnSpc>
                <a:spcPts val="5150"/>
              </a:lnSpc>
              <a:buFont typeface="Arial" panose="020B0604020202020204"/>
              <a:buChar char="⚬"/>
            </a:pPr>
            <a:r>
              <a:rPr lang="en-US" sz="3680" spc="-73">
                <a:solidFill>
                  <a:srgbClr val="051D40"/>
                </a:solidFill>
                <a:latin typeface="Poppins" panose="00000500000000000000"/>
                <a:ea typeface="Poppins" panose="00000500000000000000"/>
                <a:cs typeface="Poppins" panose="00000500000000000000"/>
                <a:sym typeface="Poppins" panose="00000500000000000000"/>
              </a:rPr>
              <a:t>Navigation Framework: Nav2 Stack</a:t>
            </a:r>
          </a:p>
          <a:p>
            <a:pPr marL="840740" lvl="2" indent="-280035" algn="l">
              <a:lnSpc>
                <a:spcPts val="5150"/>
              </a:lnSpc>
              <a:buFont typeface="Arial" panose="020B0604020202020204"/>
              <a:buChar char="⚬"/>
            </a:pPr>
            <a:r>
              <a:rPr lang="en-US" sz="3680" spc="-73">
                <a:solidFill>
                  <a:srgbClr val="051D40"/>
                </a:solidFill>
                <a:latin typeface="Poppins" panose="00000500000000000000"/>
                <a:ea typeface="Poppins" panose="00000500000000000000"/>
                <a:cs typeface="Poppins" panose="00000500000000000000"/>
                <a:sym typeface="Poppins" panose="00000500000000000000"/>
              </a:rPr>
              <a:t>Programming Language: Python</a:t>
            </a:r>
          </a:p>
          <a:p>
            <a:pPr marL="840740" lvl="2" indent="-280035" algn="l">
              <a:lnSpc>
                <a:spcPts val="5150"/>
              </a:lnSpc>
              <a:buFont typeface="Arial" panose="020B0604020202020204"/>
              <a:buChar char="⚬"/>
            </a:pPr>
            <a:r>
              <a:rPr lang="en-US" sz="3680" spc="-73">
                <a:solidFill>
                  <a:srgbClr val="051D40"/>
                </a:solidFill>
                <a:latin typeface="Poppins" panose="00000500000000000000"/>
                <a:ea typeface="Poppins" panose="00000500000000000000"/>
                <a:cs typeface="Poppins" panose="00000500000000000000"/>
                <a:sym typeface="Poppins" panose="00000500000000000000"/>
              </a:rPr>
              <a:t>Storage: microSD Card</a:t>
            </a:r>
          </a:p>
          <a:p>
            <a:pPr marL="840740" lvl="2" indent="-280035" algn="l">
              <a:lnSpc>
                <a:spcPts val="5150"/>
              </a:lnSpc>
            </a:pPr>
            <a:endParaRPr lang="en-US" sz="3680" spc="-73">
              <a:solidFill>
                <a:srgbClr val="051D40"/>
              </a:solidFill>
              <a:latin typeface="Poppins" panose="00000500000000000000"/>
              <a:ea typeface="Poppins" panose="00000500000000000000"/>
              <a:cs typeface="Poppins" panose="00000500000000000000"/>
              <a:sym typeface="Poppins" panose="00000500000000000000"/>
            </a:endParaRPr>
          </a:p>
        </p:txBody>
      </p:sp>
      <p:grpSp>
        <p:nvGrpSpPr>
          <p:cNvPr id="6" name="Group 6"/>
          <p:cNvGrpSpPr/>
          <p:nvPr/>
        </p:nvGrpSpPr>
        <p:grpSpPr>
          <a:xfrm>
            <a:off x="268738" y="601628"/>
            <a:ext cx="2332682" cy="2332682"/>
            <a:chOff x="0" y="0"/>
            <a:chExt cx="3110243" cy="3110243"/>
          </a:xfrm>
        </p:grpSpPr>
        <p:sp>
          <p:nvSpPr>
            <p:cNvPr id="7" name="Freeform 7"/>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4"/>
              <a:stretch>
                <a:fillRect t="-16666" b="-16667"/>
              </a:stretch>
            </a:blipFill>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273313" y="781050"/>
            <a:ext cx="14323019" cy="1300486"/>
          </a:xfrm>
          <a:prstGeom prst="rect">
            <a:avLst/>
          </a:prstGeom>
        </p:spPr>
        <p:txBody>
          <a:bodyPr lIns="0" tIns="0" rIns="0" bIns="0" rtlCol="0" anchor="t">
            <a:spAutoFit/>
          </a:bodyPr>
          <a:lstStyle/>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HARDWARE REQUIRED</a:t>
            </a:r>
          </a:p>
        </p:txBody>
      </p:sp>
      <p:sp>
        <p:nvSpPr>
          <p:cNvPr id="3" name="Freeform 3"/>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268738" y="601628"/>
            <a:ext cx="2492588" cy="2492588"/>
            <a:chOff x="0" y="0"/>
            <a:chExt cx="3323450" cy="3323450"/>
          </a:xfrm>
        </p:grpSpPr>
        <p:sp>
          <p:nvSpPr>
            <p:cNvPr id="6" name="Freeform 6"/>
            <p:cNvSpPr/>
            <p:nvPr/>
          </p:nvSpPr>
          <p:spPr>
            <a:xfrm>
              <a:off x="0" y="0"/>
              <a:ext cx="3323336" cy="3323463"/>
            </a:xfrm>
            <a:custGeom>
              <a:avLst/>
              <a:gdLst/>
              <a:ahLst/>
              <a:cxnLst/>
              <a:rect l="l" t="t" r="r" b="b"/>
              <a:pathLst>
                <a:path w="3323336" h="3323463">
                  <a:moveTo>
                    <a:pt x="1661668" y="0"/>
                  </a:moveTo>
                  <a:cubicBezTo>
                    <a:pt x="743966" y="0"/>
                    <a:pt x="0" y="743966"/>
                    <a:pt x="0" y="1661668"/>
                  </a:cubicBezTo>
                  <a:cubicBezTo>
                    <a:pt x="0" y="2579370"/>
                    <a:pt x="743966" y="3323463"/>
                    <a:pt x="1661668" y="3323463"/>
                  </a:cubicBezTo>
                  <a:cubicBezTo>
                    <a:pt x="2579370" y="3323463"/>
                    <a:pt x="3323336" y="2579497"/>
                    <a:pt x="3323336" y="1661795"/>
                  </a:cubicBezTo>
                  <a:cubicBezTo>
                    <a:pt x="3323336" y="744093"/>
                    <a:pt x="2579497" y="0"/>
                    <a:pt x="1661668" y="0"/>
                  </a:cubicBezTo>
                  <a:close/>
                </a:path>
              </a:pathLst>
            </a:custGeom>
            <a:blipFill>
              <a:blip r:embed="rId4"/>
              <a:stretch>
                <a:fillRect t="-16666" r="-3" b="-16666"/>
              </a:stretch>
            </a:blipFill>
          </p:spPr>
          <p:txBody>
            <a:bodyPr/>
            <a:lstStyle/>
            <a:p>
              <a:endParaRPr lang="en-US"/>
            </a:p>
          </p:txBody>
        </p:sp>
      </p:grpSp>
      <p:sp>
        <p:nvSpPr>
          <p:cNvPr id="7" name="TextBox 7"/>
          <p:cNvSpPr txBox="1"/>
          <p:nvPr/>
        </p:nvSpPr>
        <p:spPr>
          <a:xfrm>
            <a:off x="571757" y="3284715"/>
            <a:ext cx="15182221" cy="5108626"/>
          </a:xfrm>
          <a:prstGeom prst="rect">
            <a:avLst/>
          </a:prstGeom>
        </p:spPr>
        <p:txBody>
          <a:bodyPr lIns="0" tIns="0" rIns="0" bIns="0" rtlCol="0" anchor="t">
            <a:spAutoFit/>
          </a:bodyPr>
          <a:lstStyle/>
          <a:p>
            <a:pPr marL="828040" lvl="2" indent="-276225" algn="l">
              <a:lnSpc>
                <a:spcPts val="5070"/>
              </a:lnSpc>
              <a:buFont typeface="Arial" panose="020B0604020202020204"/>
              <a:buChar char="⚬"/>
            </a:pPr>
            <a:r>
              <a:rPr lang="en-US" sz="3620" spc="-72">
                <a:solidFill>
                  <a:srgbClr val="051D40"/>
                </a:solidFill>
                <a:latin typeface="Poppins" panose="00000500000000000000"/>
                <a:ea typeface="Poppins" panose="00000500000000000000"/>
                <a:cs typeface="Poppins" panose="00000500000000000000"/>
                <a:sym typeface="Poppins" panose="00000500000000000000"/>
              </a:rPr>
              <a:t>Main Controller: Raspberry Pi 3 (1 GB)</a:t>
            </a:r>
          </a:p>
          <a:p>
            <a:pPr marL="828040" lvl="2" indent="-276225" algn="l">
              <a:lnSpc>
                <a:spcPts val="5070"/>
              </a:lnSpc>
              <a:buFont typeface="Arial" panose="020B0604020202020204"/>
              <a:buChar char="⚬"/>
            </a:pPr>
            <a:r>
              <a:rPr lang="en-US" sz="3620" spc="-72">
                <a:solidFill>
                  <a:srgbClr val="051D40"/>
                </a:solidFill>
                <a:latin typeface="Poppins" panose="00000500000000000000"/>
                <a:ea typeface="Poppins" panose="00000500000000000000"/>
                <a:cs typeface="Poppins" panose="00000500000000000000"/>
                <a:sym typeface="Poppins" panose="00000500000000000000"/>
              </a:rPr>
              <a:t>Motor Driver: TB6612FNG </a:t>
            </a:r>
          </a:p>
          <a:p>
            <a:pPr marL="828040" lvl="2" indent="-276225" algn="l">
              <a:lnSpc>
                <a:spcPts val="5070"/>
              </a:lnSpc>
              <a:buFont typeface="Arial" panose="020B0604020202020204"/>
              <a:buChar char="⚬"/>
            </a:pPr>
            <a:r>
              <a:rPr lang="en-US" sz="3620" spc="-72">
                <a:solidFill>
                  <a:srgbClr val="051D40"/>
                </a:solidFill>
                <a:latin typeface="Poppins" panose="00000500000000000000"/>
                <a:ea typeface="Poppins" panose="00000500000000000000"/>
                <a:cs typeface="Poppins" panose="00000500000000000000"/>
                <a:sym typeface="Poppins" panose="00000500000000000000"/>
              </a:rPr>
              <a:t>Mobile Base: DIY 2WD robot chassis with DC geared motors and incremental encoders</a:t>
            </a:r>
          </a:p>
          <a:p>
            <a:pPr marL="828040" lvl="2" indent="-276225" algn="l">
              <a:lnSpc>
                <a:spcPts val="5070"/>
              </a:lnSpc>
              <a:buFont typeface="Arial" panose="020B0604020202020204"/>
              <a:buChar char="⚬"/>
            </a:pPr>
            <a:r>
              <a:rPr lang="en-US" sz="3620" spc="-72">
                <a:solidFill>
                  <a:srgbClr val="051D40"/>
                </a:solidFill>
                <a:latin typeface="Poppins" panose="00000500000000000000"/>
                <a:ea typeface="Poppins" panose="00000500000000000000"/>
                <a:cs typeface="Poppins" panose="00000500000000000000"/>
                <a:sym typeface="Poppins" panose="00000500000000000000"/>
              </a:rPr>
              <a:t>LiDAR Sensor: RPLIDAR A1</a:t>
            </a:r>
          </a:p>
          <a:p>
            <a:pPr marL="828040" lvl="2" indent="-276225" algn="l">
              <a:lnSpc>
                <a:spcPts val="5070"/>
              </a:lnSpc>
              <a:buFont typeface="Arial" panose="020B0604020202020204"/>
              <a:buChar char="⚬"/>
            </a:pPr>
            <a:r>
              <a:rPr lang="en-US" sz="3620" spc="-72">
                <a:solidFill>
                  <a:srgbClr val="051D40"/>
                </a:solidFill>
                <a:latin typeface="Poppins" panose="00000500000000000000"/>
                <a:ea typeface="Poppins" panose="00000500000000000000"/>
                <a:cs typeface="Poppins" panose="00000500000000000000"/>
                <a:sym typeface="Poppins" panose="00000500000000000000"/>
              </a:rPr>
              <a:t>IMU Sensor: MPU6050</a:t>
            </a:r>
          </a:p>
          <a:p>
            <a:pPr marL="828040" lvl="2" indent="-276225" algn="l">
              <a:lnSpc>
                <a:spcPts val="5070"/>
              </a:lnSpc>
              <a:buFont typeface="Arial" panose="020B0604020202020204"/>
              <a:buChar char="⚬"/>
            </a:pPr>
            <a:r>
              <a:rPr lang="en-US" sz="3620" spc="-72">
                <a:solidFill>
                  <a:srgbClr val="051D40"/>
                </a:solidFill>
                <a:latin typeface="Poppins" panose="00000500000000000000"/>
                <a:ea typeface="Poppins" panose="00000500000000000000"/>
                <a:cs typeface="Poppins" panose="00000500000000000000"/>
                <a:sym typeface="Poppins" panose="00000500000000000000"/>
              </a:rPr>
              <a:t>Seconday Controller: Arduino Uno</a:t>
            </a:r>
          </a:p>
          <a:p>
            <a:pPr marL="828040" lvl="2" indent="-276225" algn="l">
              <a:lnSpc>
                <a:spcPts val="5070"/>
              </a:lnSpc>
              <a:buFont typeface="Arial" panose="020B0604020202020204"/>
              <a:buChar char="⚬"/>
            </a:pPr>
            <a:r>
              <a:rPr lang="en-US" sz="3620" spc="-72">
                <a:solidFill>
                  <a:srgbClr val="051D40"/>
                </a:solidFill>
                <a:latin typeface="Poppins" panose="00000500000000000000"/>
                <a:ea typeface="Poppins" panose="00000500000000000000"/>
                <a:cs typeface="Poppins" panose="00000500000000000000"/>
                <a:sym typeface="Poppins" panose="00000500000000000000"/>
              </a:rPr>
              <a:t>Power Supply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63155" y="5537902"/>
            <a:ext cx="8285207" cy="8405908"/>
          </a:xfrm>
          <a:custGeom>
            <a:avLst/>
            <a:gdLst/>
            <a:ahLst/>
            <a:cxnLst/>
            <a:rect l="l" t="t" r="r" b="b"/>
            <a:pathLst>
              <a:path w="8285207" h="8405908">
                <a:moveTo>
                  <a:pt x="0" y="0"/>
                </a:moveTo>
                <a:lnTo>
                  <a:pt x="8285207" y="0"/>
                </a:lnTo>
                <a:lnTo>
                  <a:pt x="8285207" y="8405907"/>
                </a:lnTo>
                <a:lnTo>
                  <a:pt x="0" y="8405907"/>
                </a:lnTo>
                <a:lnTo>
                  <a:pt x="0" y="0"/>
                </a:lnTo>
                <a:close/>
              </a:path>
            </a:pathLst>
          </a:custGeom>
          <a:blipFill>
            <a:blip>
              <a:alphaModFix amt="20999"/>
              <a:extLst>
                <a:ext uri="{96DAC541-7B7A-43D3-8B79-37D633B846F1}">
                  <asvg:svgBlip xmlns:asvg="http://schemas.microsoft.com/office/drawing/2016/SVG/main" r:embed="rId2"/>
                </a:ext>
              </a:extLst>
            </a:blip>
            <a:stretch>
              <a:fillRect l="-38" r="-39"/>
            </a:stretch>
          </a:blipFill>
        </p:spPr>
        <p:txBody>
          <a:bodyPr/>
          <a:lstStyle/>
          <a:p>
            <a:endParaRPr lang="en-US"/>
          </a:p>
        </p:txBody>
      </p:sp>
      <p:sp>
        <p:nvSpPr>
          <p:cNvPr id="3" name="Freeform 3"/>
          <p:cNvSpPr/>
          <p:nvPr/>
        </p:nvSpPr>
        <p:spPr>
          <a:xfrm rot="-7910160">
            <a:off x="14555343" y="6293901"/>
            <a:ext cx="7465324" cy="7574080"/>
          </a:xfrm>
          <a:custGeom>
            <a:avLst/>
            <a:gdLst/>
            <a:ahLst/>
            <a:cxnLst/>
            <a:rect l="l" t="t" r="r" b="b"/>
            <a:pathLst>
              <a:path w="7465324" h="7574080">
                <a:moveTo>
                  <a:pt x="0" y="0"/>
                </a:moveTo>
                <a:lnTo>
                  <a:pt x="7465324" y="0"/>
                </a:lnTo>
                <a:lnTo>
                  <a:pt x="7465324" y="7574080"/>
                </a:lnTo>
                <a:lnTo>
                  <a:pt x="0" y="7574080"/>
                </a:lnTo>
                <a:lnTo>
                  <a:pt x="0" y="0"/>
                </a:lnTo>
                <a:close/>
              </a:path>
            </a:pathLst>
          </a:custGeom>
          <a:blipFill>
            <a:blip>
              <a:alphaModFix amt="20999"/>
              <a:extLst>
                <a:ext uri="{96DAC541-7B7A-43D3-8B79-37D633B846F1}">
                  <asvg:svgBlip xmlns:asvg="http://schemas.microsoft.com/office/drawing/2016/SVG/main" r:embed="rId2"/>
                </a:ext>
              </a:extLst>
            </a:blip>
            <a:stretch>
              <a:fillRect l="-27" r="-27"/>
            </a:stretch>
          </a:blipFill>
        </p:spPr>
        <p:txBody>
          <a:bodyPr/>
          <a:lstStyle/>
          <a:p>
            <a:endParaRPr lang="en-US"/>
          </a:p>
        </p:txBody>
      </p:sp>
      <p:sp>
        <p:nvSpPr>
          <p:cNvPr id="4" name="TextBox 4"/>
          <p:cNvSpPr txBox="1"/>
          <p:nvPr/>
        </p:nvSpPr>
        <p:spPr>
          <a:xfrm>
            <a:off x="1525695" y="895350"/>
            <a:ext cx="15733605" cy="1194689"/>
          </a:xfrm>
          <a:prstGeom prst="rect">
            <a:avLst/>
          </a:prstGeom>
        </p:spPr>
        <p:txBody>
          <a:bodyPr lIns="0" tIns="0" rIns="0" bIns="0" rtlCol="0" anchor="t">
            <a:spAutoFit/>
          </a:bodyPr>
          <a:lstStyle/>
          <a:p>
            <a:pPr algn="ctr">
              <a:lnSpc>
                <a:spcPts val="9750"/>
              </a:lnSpc>
            </a:pPr>
            <a:r>
              <a:rPr lang="en-US" sz="6965" b="1">
                <a:solidFill>
                  <a:srgbClr val="051D40"/>
                </a:solidFill>
                <a:latin typeface="Montserrat Bold" panose="00000800000000000000"/>
                <a:ea typeface="Montserrat Bold" panose="00000800000000000000"/>
                <a:cs typeface="Montserrat Bold" panose="00000800000000000000"/>
                <a:sym typeface="Montserrat Bold" panose="00000800000000000000"/>
              </a:rPr>
              <a:t>PROTOTYPE</a:t>
            </a:r>
          </a:p>
        </p:txBody>
      </p:sp>
      <p:sp>
        <p:nvSpPr>
          <p:cNvPr id="5" name="Freeform 5"/>
          <p:cNvSpPr/>
          <p:nvPr/>
        </p:nvSpPr>
        <p:spPr>
          <a:xfrm>
            <a:off x="13787990" y="-3454927"/>
            <a:ext cx="8113109" cy="8113109"/>
          </a:xfrm>
          <a:custGeom>
            <a:avLst/>
            <a:gdLst/>
            <a:ahLst/>
            <a:cxnLst/>
            <a:rect l="l" t="t" r="r" b="b"/>
            <a:pathLst>
              <a:path w="8113109" h="8113109">
                <a:moveTo>
                  <a:pt x="0" y="0"/>
                </a:moveTo>
                <a:lnTo>
                  <a:pt x="8113109" y="0"/>
                </a:lnTo>
                <a:lnTo>
                  <a:pt x="8113109" y="8113109"/>
                </a:lnTo>
                <a:lnTo>
                  <a:pt x="0" y="81131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268738" y="601628"/>
            <a:ext cx="2332682" cy="2332682"/>
            <a:chOff x="0" y="0"/>
            <a:chExt cx="3110243" cy="3110243"/>
          </a:xfrm>
        </p:grpSpPr>
        <p:sp>
          <p:nvSpPr>
            <p:cNvPr id="7" name="Freeform 7"/>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4"/>
              <a:stretch>
                <a:fillRect t="-16666" b="-16667"/>
              </a:stretch>
            </a:blipFill>
          </p:spPr>
          <p:txBody>
            <a:bodyPr/>
            <a:lstStyle/>
            <a:p>
              <a:endParaRPr lang="en-US"/>
            </a:p>
          </p:txBody>
        </p:sp>
      </p:grpSp>
      <p:sp>
        <p:nvSpPr>
          <p:cNvPr id="8" name="Freeform 8"/>
          <p:cNvSpPr/>
          <p:nvPr/>
        </p:nvSpPr>
        <p:spPr>
          <a:xfrm>
            <a:off x="3844925" y="2547620"/>
            <a:ext cx="10553700" cy="6392545"/>
          </a:xfrm>
          <a:custGeom>
            <a:avLst/>
            <a:gdLst/>
            <a:ahLst/>
            <a:cxnLst/>
            <a:rect l="l" t="t" r="r" b="b"/>
            <a:pathLst>
              <a:path w="6682972" h="6248768">
                <a:moveTo>
                  <a:pt x="0" y="0"/>
                </a:moveTo>
                <a:lnTo>
                  <a:pt x="6682972" y="0"/>
                </a:lnTo>
                <a:lnTo>
                  <a:pt x="6682972" y="6248767"/>
                </a:lnTo>
                <a:lnTo>
                  <a:pt x="0" y="6248767"/>
                </a:lnTo>
                <a:lnTo>
                  <a:pt x="0" y="0"/>
                </a:lnTo>
                <a:close/>
              </a:path>
            </a:pathLst>
          </a:custGeom>
          <a:blipFill>
            <a:blip r:embed="rId5"/>
            <a:stretch>
              <a:fillRect/>
            </a:stretch>
          </a:blipFill>
        </p:spPr>
        <p:txBody>
          <a:bodyPr/>
          <a:lstStyle/>
          <a:p>
            <a:endParaRPr lang="en-US"/>
          </a:p>
        </p:txBody>
      </p:sp>
      <p:sp>
        <p:nvSpPr>
          <p:cNvPr id="9" name="TextBox 9"/>
          <p:cNvSpPr txBox="1"/>
          <p:nvPr/>
        </p:nvSpPr>
        <p:spPr>
          <a:xfrm>
            <a:off x="3746806" y="8958262"/>
            <a:ext cx="11700381" cy="538480"/>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Figure 1:Assembled autonomous mobile robot with RPLIDAR A1 sensor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63155" y="5537902"/>
            <a:ext cx="8285207" cy="8405908"/>
          </a:xfrm>
          <a:custGeom>
            <a:avLst/>
            <a:gdLst/>
            <a:ahLst/>
            <a:cxnLst/>
            <a:rect l="l" t="t" r="r" b="b"/>
            <a:pathLst>
              <a:path w="8285207" h="8405908">
                <a:moveTo>
                  <a:pt x="0" y="0"/>
                </a:moveTo>
                <a:lnTo>
                  <a:pt x="8285207" y="0"/>
                </a:lnTo>
                <a:lnTo>
                  <a:pt x="8285207" y="8405907"/>
                </a:lnTo>
                <a:lnTo>
                  <a:pt x="0" y="8405907"/>
                </a:lnTo>
                <a:lnTo>
                  <a:pt x="0" y="0"/>
                </a:lnTo>
                <a:close/>
              </a:path>
            </a:pathLst>
          </a:custGeom>
          <a:blipFill>
            <a:blip>
              <a:alphaModFix amt="20999"/>
              <a:extLst>
                <a:ext uri="{96DAC541-7B7A-43D3-8B79-37D633B846F1}">
                  <asvg:svgBlip xmlns:asvg="http://schemas.microsoft.com/office/drawing/2016/SVG/main" r:embed="rId2"/>
                </a:ext>
              </a:extLst>
            </a:blip>
            <a:stretch>
              <a:fillRect l="-38" r="-39"/>
            </a:stretch>
          </a:blipFill>
        </p:spPr>
        <p:txBody>
          <a:bodyPr/>
          <a:lstStyle/>
          <a:p>
            <a:endParaRPr lang="en-US"/>
          </a:p>
        </p:txBody>
      </p:sp>
      <p:sp>
        <p:nvSpPr>
          <p:cNvPr id="3" name="Freeform 3"/>
          <p:cNvSpPr/>
          <p:nvPr/>
        </p:nvSpPr>
        <p:spPr>
          <a:xfrm rot="-7910160">
            <a:off x="14555343" y="6293901"/>
            <a:ext cx="7465324" cy="7574080"/>
          </a:xfrm>
          <a:custGeom>
            <a:avLst/>
            <a:gdLst/>
            <a:ahLst/>
            <a:cxnLst/>
            <a:rect l="l" t="t" r="r" b="b"/>
            <a:pathLst>
              <a:path w="7465324" h="7574080">
                <a:moveTo>
                  <a:pt x="0" y="0"/>
                </a:moveTo>
                <a:lnTo>
                  <a:pt x="7465324" y="0"/>
                </a:lnTo>
                <a:lnTo>
                  <a:pt x="7465324" y="7574080"/>
                </a:lnTo>
                <a:lnTo>
                  <a:pt x="0" y="7574080"/>
                </a:lnTo>
                <a:lnTo>
                  <a:pt x="0" y="0"/>
                </a:lnTo>
                <a:close/>
              </a:path>
            </a:pathLst>
          </a:custGeom>
          <a:blipFill>
            <a:blip>
              <a:alphaModFix amt="20999"/>
              <a:extLst>
                <a:ext uri="{96DAC541-7B7A-43D3-8B79-37D633B846F1}">
                  <asvg:svgBlip xmlns:asvg="http://schemas.microsoft.com/office/drawing/2016/SVG/main" r:embed="rId2"/>
                </a:ext>
              </a:extLst>
            </a:blip>
            <a:stretch>
              <a:fillRect l="-27" r="-27"/>
            </a:stretch>
          </a:blipFill>
        </p:spPr>
        <p:txBody>
          <a:bodyPr/>
          <a:lstStyle/>
          <a:p>
            <a:endParaRPr lang="en-US"/>
          </a:p>
        </p:txBody>
      </p:sp>
      <p:sp>
        <p:nvSpPr>
          <p:cNvPr id="4" name="TextBox 4"/>
          <p:cNvSpPr txBox="1"/>
          <p:nvPr/>
        </p:nvSpPr>
        <p:spPr>
          <a:xfrm>
            <a:off x="1525695" y="895350"/>
            <a:ext cx="15733605" cy="1194689"/>
          </a:xfrm>
          <a:prstGeom prst="rect">
            <a:avLst/>
          </a:prstGeom>
        </p:spPr>
        <p:txBody>
          <a:bodyPr lIns="0" tIns="0" rIns="0" bIns="0" rtlCol="0" anchor="t">
            <a:spAutoFit/>
          </a:bodyPr>
          <a:lstStyle/>
          <a:p>
            <a:pPr algn="ctr">
              <a:lnSpc>
                <a:spcPts val="9750"/>
              </a:lnSpc>
            </a:pPr>
            <a:r>
              <a:rPr lang="en-US" sz="6965" b="1">
                <a:solidFill>
                  <a:srgbClr val="051D40"/>
                </a:solidFill>
                <a:latin typeface="Montserrat Bold" panose="00000800000000000000"/>
                <a:ea typeface="Montserrat Bold" panose="00000800000000000000"/>
                <a:cs typeface="Montserrat Bold" panose="00000800000000000000"/>
                <a:sym typeface="Montserrat Bold" panose="00000800000000000000"/>
              </a:rPr>
              <a:t>SYSTEM ARCHITECTURE</a:t>
            </a:r>
          </a:p>
        </p:txBody>
      </p:sp>
      <p:sp>
        <p:nvSpPr>
          <p:cNvPr id="5" name="Freeform 5"/>
          <p:cNvSpPr/>
          <p:nvPr/>
        </p:nvSpPr>
        <p:spPr>
          <a:xfrm>
            <a:off x="13787990" y="-3454927"/>
            <a:ext cx="8113109" cy="8113109"/>
          </a:xfrm>
          <a:custGeom>
            <a:avLst/>
            <a:gdLst/>
            <a:ahLst/>
            <a:cxnLst/>
            <a:rect l="l" t="t" r="r" b="b"/>
            <a:pathLst>
              <a:path w="8113109" h="8113109">
                <a:moveTo>
                  <a:pt x="0" y="0"/>
                </a:moveTo>
                <a:lnTo>
                  <a:pt x="8113109" y="0"/>
                </a:lnTo>
                <a:lnTo>
                  <a:pt x="8113109" y="8113109"/>
                </a:lnTo>
                <a:lnTo>
                  <a:pt x="0" y="81131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268738" y="601628"/>
            <a:ext cx="2332682" cy="2332682"/>
            <a:chOff x="0" y="0"/>
            <a:chExt cx="3110243" cy="3110243"/>
          </a:xfrm>
        </p:grpSpPr>
        <p:sp>
          <p:nvSpPr>
            <p:cNvPr id="7" name="Freeform 7"/>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4"/>
              <a:stretch>
                <a:fillRect t="-16666" b="-16667"/>
              </a:stretch>
            </a:blipFill>
          </p:spPr>
          <p:txBody>
            <a:bodyPr/>
            <a:lstStyle/>
            <a:p>
              <a:endParaRPr lang="en-US"/>
            </a:p>
          </p:txBody>
        </p:sp>
      </p:grpSp>
      <p:sp>
        <p:nvSpPr>
          <p:cNvPr id="8" name="Freeform 8"/>
          <p:cNvSpPr/>
          <p:nvPr/>
        </p:nvSpPr>
        <p:spPr>
          <a:xfrm>
            <a:off x="685760" y="2628803"/>
            <a:ext cx="17031149" cy="6217062"/>
          </a:xfrm>
          <a:custGeom>
            <a:avLst/>
            <a:gdLst/>
            <a:ahLst/>
            <a:cxnLst/>
            <a:rect l="l" t="t" r="r" b="b"/>
            <a:pathLst>
              <a:path w="17031149" h="6217062">
                <a:moveTo>
                  <a:pt x="0" y="0"/>
                </a:moveTo>
                <a:lnTo>
                  <a:pt x="17031150" y="0"/>
                </a:lnTo>
                <a:lnTo>
                  <a:pt x="17031150" y="6217061"/>
                </a:lnTo>
                <a:lnTo>
                  <a:pt x="0" y="6217061"/>
                </a:lnTo>
                <a:lnTo>
                  <a:pt x="0" y="0"/>
                </a:lnTo>
                <a:close/>
              </a:path>
            </a:pathLst>
          </a:custGeom>
          <a:blipFill>
            <a:blip r:embed="rId5"/>
            <a:stretch>
              <a:fillRect/>
            </a:stretch>
          </a:blipFill>
        </p:spPr>
        <p:txBody>
          <a:bodyPr/>
          <a:lstStyle/>
          <a:p>
            <a:endParaRPr lang="en-US"/>
          </a:p>
        </p:txBody>
      </p:sp>
      <p:sp>
        <p:nvSpPr>
          <p:cNvPr id="9" name="TextBox 9"/>
          <p:cNvSpPr txBox="1"/>
          <p:nvPr/>
        </p:nvSpPr>
        <p:spPr>
          <a:xfrm>
            <a:off x="2371885" y="8952545"/>
            <a:ext cx="14129236" cy="574040"/>
          </a:xfrm>
          <a:prstGeom prst="rect">
            <a:avLst/>
          </a:prstGeom>
        </p:spPr>
        <p:txBody>
          <a:bodyPr lIns="0" tIns="0" rIns="0" bIns="0" rtlCol="0" anchor="t">
            <a:spAutoFit/>
          </a:bodyPr>
          <a:lstStyle/>
          <a:p>
            <a:pPr algn="ctr">
              <a:lnSpc>
                <a:spcPts val="4480"/>
              </a:lnSpc>
              <a:spcBef>
                <a:spcPct val="0"/>
              </a:spcBef>
            </a:pPr>
            <a:r>
              <a:rPr lang="en-US" sz="3200">
                <a:solidFill>
                  <a:srgbClr val="000000"/>
                </a:solidFill>
                <a:latin typeface="Times New Roman" panose="02020603050405020304"/>
                <a:ea typeface="Times New Roman" panose="02020603050405020304"/>
                <a:cs typeface="Times New Roman" panose="02020603050405020304"/>
                <a:sym typeface="Times New Roman" panose="02020603050405020304"/>
              </a:rPr>
              <a:t>Figure 2: Three tier system architecture of the autonomous mobile robot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63155" y="5537902"/>
            <a:ext cx="8285207" cy="8405908"/>
          </a:xfrm>
          <a:custGeom>
            <a:avLst/>
            <a:gdLst/>
            <a:ahLst/>
            <a:cxnLst/>
            <a:rect l="l" t="t" r="r" b="b"/>
            <a:pathLst>
              <a:path w="8285207" h="8405908">
                <a:moveTo>
                  <a:pt x="0" y="0"/>
                </a:moveTo>
                <a:lnTo>
                  <a:pt x="8285207" y="0"/>
                </a:lnTo>
                <a:lnTo>
                  <a:pt x="8285207" y="8405907"/>
                </a:lnTo>
                <a:lnTo>
                  <a:pt x="0" y="8405907"/>
                </a:lnTo>
                <a:lnTo>
                  <a:pt x="0" y="0"/>
                </a:lnTo>
                <a:close/>
              </a:path>
            </a:pathLst>
          </a:custGeom>
          <a:blipFill>
            <a:blip>
              <a:alphaModFix amt="20999"/>
              <a:extLst>
                <a:ext uri="{96DAC541-7B7A-43D3-8B79-37D633B846F1}">
                  <asvg:svgBlip xmlns:asvg="http://schemas.microsoft.com/office/drawing/2016/SVG/main" r:embed="rId2"/>
                </a:ext>
              </a:extLst>
            </a:blip>
            <a:stretch>
              <a:fillRect l="-38" r="-39"/>
            </a:stretch>
          </a:blipFill>
        </p:spPr>
        <p:txBody>
          <a:bodyPr/>
          <a:lstStyle/>
          <a:p>
            <a:endParaRPr lang="en-US"/>
          </a:p>
        </p:txBody>
      </p:sp>
      <p:sp>
        <p:nvSpPr>
          <p:cNvPr id="3" name="Freeform 3"/>
          <p:cNvSpPr/>
          <p:nvPr/>
        </p:nvSpPr>
        <p:spPr>
          <a:xfrm rot="-7910160">
            <a:off x="14555343" y="6293901"/>
            <a:ext cx="7465324" cy="7574080"/>
          </a:xfrm>
          <a:custGeom>
            <a:avLst/>
            <a:gdLst/>
            <a:ahLst/>
            <a:cxnLst/>
            <a:rect l="l" t="t" r="r" b="b"/>
            <a:pathLst>
              <a:path w="7465324" h="7574080">
                <a:moveTo>
                  <a:pt x="0" y="0"/>
                </a:moveTo>
                <a:lnTo>
                  <a:pt x="7465324" y="0"/>
                </a:lnTo>
                <a:lnTo>
                  <a:pt x="7465324" y="7574080"/>
                </a:lnTo>
                <a:lnTo>
                  <a:pt x="0" y="7574080"/>
                </a:lnTo>
                <a:lnTo>
                  <a:pt x="0" y="0"/>
                </a:lnTo>
                <a:close/>
              </a:path>
            </a:pathLst>
          </a:custGeom>
          <a:blipFill>
            <a:blip>
              <a:alphaModFix amt="20999"/>
              <a:extLst>
                <a:ext uri="{96DAC541-7B7A-43D3-8B79-37D633B846F1}">
                  <asvg:svgBlip xmlns:asvg="http://schemas.microsoft.com/office/drawing/2016/SVG/main" r:embed="rId2"/>
                </a:ext>
              </a:extLst>
            </a:blip>
            <a:stretch>
              <a:fillRect l="-27" r="-27"/>
            </a:stretch>
          </a:blipFill>
        </p:spPr>
        <p:txBody>
          <a:bodyPr/>
          <a:lstStyle/>
          <a:p>
            <a:endParaRPr lang="en-US"/>
          </a:p>
        </p:txBody>
      </p:sp>
      <p:sp>
        <p:nvSpPr>
          <p:cNvPr id="4" name="TextBox 4"/>
          <p:cNvSpPr txBox="1"/>
          <p:nvPr/>
        </p:nvSpPr>
        <p:spPr>
          <a:xfrm>
            <a:off x="1525695" y="895350"/>
            <a:ext cx="15733605" cy="1194689"/>
          </a:xfrm>
          <a:prstGeom prst="rect">
            <a:avLst/>
          </a:prstGeom>
        </p:spPr>
        <p:txBody>
          <a:bodyPr lIns="0" tIns="0" rIns="0" bIns="0" rtlCol="0" anchor="t">
            <a:spAutoFit/>
          </a:bodyPr>
          <a:lstStyle/>
          <a:p>
            <a:pPr algn="ctr">
              <a:lnSpc>
                <a:spcPts val="9750"/>
              </a:lnSpc>
            </a:pPr>
            <a:r>
              <a:rPr lang="en-US" sz="6965" b="1">
                <a:solidFill>
                  <a:srgbClr val="051D40"/>
                </a:solidFill>
                <a:latin typeface="Montserrat Bold" panose="00000800000000000000"/>
                <a:ea typeface="Montserrat Bold" panose="00000800000000000000"/>
                <a:cs typeface="Montserrat Bold" panose="00000800000000000000"/>
                <a:sym typeface="Montserrat Bold" panose="00000800000000000000"/>
              </a:rPr>
              <a:t>METHODOLOGY</a:t>
            </a:r>
          </a:p>
        </p:txBody>
      </p:sp>
      <p:sp>
        <p:nvSpPr>
          <p:cNvPr id="5" name="Freeform 5"/>
          <p:cNvSpPr/>
          <p:nvPr/>
        </p:nvSpPr>
        <p:spPr>
          <a:xfrm>
            <a:off x="13787990" y="-3454927"/>
            <a:ext cx="8113109" cy="8113109"/>
          </a:xfrm>
          <a:custGeom>
            <a:avLst/>
            <a:gdLst/>
            <a:ahLst/>
            <a:cxnLst/>
            <a:rect l="l" t="t" r="r" b="b"/>
            <a:pathLst>
              <a:path w="8113109" h="8113109">
                <a:moveTo>
                  <a:pt x="0" y="0"/>
                </a:moveTo>
                <a:lnTo>
                  <a:pt x="8113109" y="0"/>
                </a:lnTo>
                <a:lnTo>
                  <a:pt x="8113109" y="8113109"/>
                </a:lnTo>
                <a:lnTo>
                  <a:pt x="0" y="81131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304933" y="419383"/>
            <a:ext cx="2332682" cy="2332682"/>
            <a:chOff x="0" y="0"/>
            <a:chExt cx="3110243" cy="3110243"/>
          </a:xfrm>
        </p:grpSpPr>
        <p:sp>
          <p:nvSpPr>
            <p:cNvPr id="7" name="Freeform 7"/>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4"/>
              <a:stretch>
                <a:fillRect t="-16666" b="-16667"/>
              </a:stretch>
            </a:blipFill>
          </p:spPr>
          <p:txBody>
            <a:bodyPr/>
            <a:lstStyle/>
            <a:p>
              <a:endParaRPr lang="en-US"/>
            </a:p>
          </p:txBody>
        </p:sp>
      </p:grpSp>
      <p:sp>
        <p:nvSpPr>
          <p:cNvPr id="8" name="Freeform 8"/>
          <p:cNvSpPr/>
          <p:nvPr/>
        </p:nvSpPr>
        <p:spPr>
          <a:xfrm>
            <a:off x="1447800" y="2628900"/>
            <a:ext cx="15270480" cy="6496050"/>
          </a:xfrm>
          <a:custGeom>
            <a:avLst/>
            <a:gdLst/>
            <a:ahLst/>
            <a:cxnLst/>
            <a:rect l="l" t="t" r="r" b="b"/>
            <a:pathLst>
              <a:path w="11276792" h="6496072">
                <a:moveTo>
                  <a:pt x="0" y="0"/>
                </a:moveTo>
                <a:lnTo>
                  <a:pt x="11276792" y="0"/>
                </a:lnTo>
                <a:lnTo>
                  <a:pt x="11276792" y="6496071"/>
                </a:lnTo>
                <a:lnTo>
                  <a:pt x="0" y="6496071"/>
                </a:lnTo>
                <a:lnTo>
                  <a:pt x="0" y="0"/>
                </a:lnTo>
                <a:close/>
              </a:path>
            </a:pathLst>
          </a:custGeom>
          <a:blipFill>
            <a:blip r:embed="rId5"/>
            <a:stretch>
              <a:fillRect t="-1882" b="-1882"/>
            </a:stretch>
          </a:blipFill>
        </p:spPr>
        <p:txBody>
          <a:bodyPr/>
          <a:lstStyle/>
          <a:p>
            <a:endParaRPr lang="en-US"/>
          </a:p>
        </p:txBody>
      </p:sp>
      <p:sp>
        <p:nvSpPr>
          <p:cNvPr id="9" name="TextBox 9"/>
          <p:cNvSpPr txBox="1"/>
          <p:nvPr/>
        </p:nvSpPr>
        <p:spPr>
          <a:xfrm>
            <a:off x="4264714" y="9349060"/>
            <a:ext cx="9758571" cy="394970"/>
          </a:xfrm>
          <a:prstGeom prst="rect">
            <a:avLst/>
          </a:prstGeom>
        </p:spPr>
        <p:txBody>
          <a:bodyPr lIns="0" tIns="0" rIns="0" bIns="0" rtlCol="0" anchor="t">
            <a:spAutoFit/>
          </a:bodyPr>
          <a:lstStyle/>
          <a:p>
            <a:pPr algn="ctr">
              <a:lnSpc>
                <a:spcPts val="3080"/>
              </a:lnSpc>
              <a:spcBef>
                <a:spcPct val="0"/>
              </a:spcBef>
            </a:pPr>
            <a:r>
              <a:rPr lang="en-US" sz="2200">
                <a:solidFill>
                  <a:srgbClr val="000000"/>
                </a:solidFill>
                <a:latin typeface="Times New Roman" panose="02020603050405020304"/>
                <a:ea typeface="Times New Roman" panose="02020603050405020304"/>
                <a:cs typeface="Times New Roman" panose="02020603050405020304"/>
                <a:sym typeface="Times New Roman" panose="02020603050405020304"/>
              </a:rPr>
              <a:t>Figure 3: End-to-end operational workflow from power-on to goal completion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430951" y="904875"/>
            <a:ext cx="14961745" cy="2405380"/>
          </a:xfrm>
          <a:prstGeom prst="rect">
            <a:avLst/>
          </a:prstGeom>
        </p:spPr>
        <p:txBody>
          <a:bodyPr lIns="0" tIns="0" rIns="0" bIns="0" rtlCol="0" anchor="t">
            <a:spAutoFit/>
          </a:bodyPr>
          <a:lstStyle/>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Algorithm Overview </a:t>
            </a:r>
          </a:p>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(A* + DWA)</a:t>
            </a:r>
          </a:p>
        </p:txBody>
      </p:sp>
      <p:sp>
        <p:nvSpPr>
          <p:cNvPr id="3" name="Freeform 3"/>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268738" y="601628"/>
            <a:ext cx="2492588" cy="2492588"/>
            <a:chOff x="0" y="0"/>
            <a:chExt cx="3323450" cy="3323450"/>
          </a:xfrm>
        </p:grpSpPr>
        <p:sp>
          <p:nvSpPr>
            <p:cNvPr id="6" name="Freeform 6"/>
            <p:cNvSpPr/>
            <p:nvPr/>
          </p:nvSpPr>
          <p:spPr>
            <a:xfrm>
              <a:off x="0" y="0"/>
              <a:ext cx="3323336" cy="3323463"/>
            </a:xfrm>
            <a:custGeom>
              <a:avLst/>
              <a:gdLst/>
              <a:ahLst/>
              <a:cxnLst/>
              <a:rect l="l" t="t" r="r" b="b"/>
              <a:pathLst>
                <a:path w="3323336" h="3323463">
                  <a:moveTo>
                    <a:pt x="1661668" y="0"/>
                  </a:moveTo>
                  <a:cubicBezTo>
                    <a:pt x="743966" y="0"/>
                    <a:pt x="0" y="743966"/>
                    <a:pt x="0" y="1661668"/>
                  </a:cubicBezTo>
                  <a:cubicBezTo>
                    <a:pt x="0" y="2579370"/>
                    <a:pt x="743966" y="3323463"/>
                    <a:pt x="1661668" y="3323463"/>
                  </a:cubicBezTo>
                  <a:cubicBezTo>
                    <a:pt x="2579370" y="3323463"/>
                    <a:pt x="3323336" y="2579497"/>
                    <a:pt x="3323336" y="1661795"/>
                  </a:cubicBezTo>
                  <a:cubicBezTo>
                    <a:pt x="3323336" y="744093"/>
                    <a:pt x="2579497" y="0"/>
                    <a:pt x="1661668" y="0"/>
                  </a:cubicBezTo>
                  <a:close/>
                </a:path>
              </a:pathLst>
            </a:custGeom>
            <a:blipFill>
              <a:blip r:embed="rId4"/>
              <a:stretch>
                <a:fillRect t="-16666" r="-3" b="-16666"/>
              </a:stretch>
            </a:blipFill>
          </p:spPr>
          <p:txBody>
            <a:bodyPr/>
            <a:lstStyle/>
            <a:p>
              <a:endParaRPr lang="en-US"/>
            </a:p>
          </p:txBody>
        </p:sp>
      </p:grpSp>
      <p:sp>
        <p:nvSpPr>
          <p:cNvPr id="7" name="Freeform 7"/>
          <p:cNvSpPr/>
          <p:nvPr/>
        </p:nvSpPr>
        <p:spPr>
          <a:xfrm>
            <a:off x="1828315" y="3450940"/>
            <a:ext cx="14631369" cy="4237397"/>
          </a:xfrm>
          <a:custGeom>
            <a:avLst/>
            <a:gdLst/>
            <a:ahLst/>
            <a:cxnLst/>
            <a:rect l="l" t="t" r="r" b="b"/>
            <a:pathLst>
              <a:path w="14631369" h="4237397">
                <a:moveTo>
                  <a:pt x="0" y="0"/>
                </a:moveTo>
                <a:lnTo>
                  <a:pt x="14631370" y="0"/>
                </a:lnTo>
                <a:lnTo>
                  <a:pt x="14631370" y="4237396"/>
                </a:lnTo>
                <a:lnTo>
                  <a:pt x="0" y="4237396"/>
                </a:lnTo>
                <a:lnTo>
                  <a:pt x="0" y="0"/>
                </a:lnTo>
                <a:close/>
              </a:path>
            </a:pathLst>
          </a:custGeom>
          <a:blipFill>
            <a:blip r:embed="rId5"/>
            <a:stretch>
              <a:fillRect/>
            </a:stretch>
          </a:blipFill>
        </p:spPr>
        <p:txBody>
          <a:bodyPr/>
          <a:lstStyle/>
          <a:p>
            <a:endParaRPr lang="en-US"/>
          </a:p>
        </p:txBody>
      </p:sp>
      <p:sp>
        <p:nvSpPr>
          <p:cNvPr id="8" name="TextBox 8"/>
          <p:cNvSpPr txBox="1"/>
          <p:nvPr/>
        </p:nvSpPr>
        <p:spPr>
          <a:xfrm>
            <a:off x="2034807" y="7762346"/>
            <a:ext cx="10895910" cy="1832651"/>
          </a:xfrm>
          <a:prstGeom prst="rect">
            <a:avLst/>
          </a:prstGeom>
        </p:spPr>
        <p:txBody>
          <a:bodyPr lIns="0" tIns="0" rIns="0" bIns="0" rtlCol="0" anchor="t">
            <a:spAutoFit/>
          </a:bodyPr>
          <a:lstStyle/>
          <a:p>
            <a:pPr marL="594360" lvl="2" indent="-198120" algn="l">
              <a:lnSpc>
                <a:spcPts val="3640"/>
              </a:lnSpc>
              <a:buFont typeface="Arial" panose="020B0604020202020204"/>
              <a:buChar char="⚬"/>
            </a:pPr>
            <a:r>
              <a:rPr lang="en-US" sz="2600" spc="-49">
                <a:solidFill>
                  <a:srgbClr val="051D40"/>
                </a:solidFill>
                <a:latin typeface="Poppins" panose="00000500000000000000"/>
                <a:ea typeface="Poppins" panose="00000500000000000000"/>
                <a:cs typeface="Poppins" panose="00000500000000000000"/>
                <a:sym typeface="Poppins" panose="00000500000000000000"/>
              </a:rPr>
              <a:t>Global path planned once using the map (A*)</a:t>
            </a:r>
          </a:p>
          <a:p>
            <a:pPr marL="594360" lvl="2" indent="-198120" algn="l">
              <a:lnSpc>
                <a:spcPts val="3640"/>
              </a:lnSpc>
              <a:buFont typeface="Arial" panose="020B0604020202020204"/>
              <a:buChar char="⚬"/>
            </a:pPr>
            <a:r>
              <a:rPr lang="en-US" sz="2600" spc="-49">
                <a:solidFill>
                  <a:srgbClr val="051D40"/>
                </a:solidFill>
                <a:latin typeface="Poppins" panose="00000500000000000000"/>
                <a:ea typeface="Poppins" panose="00000500000000000000"/>
                <a:cs typeface="Poppins" panose="00000500000000000000"/>
                <a:sym typeface="Poppins" panose="00000500000000000000"/>
              </a:rPr>
              <a:t>Local path adjusted continuously in real time to dodge obstacles (DWA)</a:t>
            </a:r>
          </a:p>
          <a:p>
            <a:pPr marL="594360" lvl="2" indent="-198120" algn="l">
              <a:lnSpc>
                <a:spcPts val="3640"/>
              </a:lnSpc>
              <a:buFont typeface="Arial" panose="020B0604020202020204"/>
              <a:buChar char="⚬"/>
            </a:pPr>
            <a:r>
              <a:rPr lang="en-US" sz="2600" spc="-51">
                <a:solidFill>
                  <a:srgbClr val="051D40"/>
                </a:solidFill>
                <a:latin typeface="Poppins" panose="00000500000000000000"/>
                <a:ea typeface="Poppins" panose="00000500000000000000"/>
                <a:cs typeface="Poppins" panose="00000500000000000000"/>
                <a:sym typeface="Poppins" panose="00000500000000000000"/>
              </a:rPr>
              <a:t>Final output sent as velocity commands to the motors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273313" y="781050"/>
            <a:ext cx="14323019" cy="1176630"/>
          </a:xfrm>
          <a:prstGeom prst="rect">
            <a:avLst/>
          </a:prstGeom>
        </p:spPr>
        <p:txBody>
          <a:bodyPr lIns="0" tIns="0" rIns="0" bIns="0" rtlCol="0" anchor="t">
            <a:spAutoFit/>
          </a:bodyPr>
          <a:lstStyle/>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LIMITATIONS</a:t>
            </a:r>
          </a:p>
        </p:txBody>
      </p:sp>
      <p:sp>
        <p:nvSpPr>
          <p:cNvPr id="3" name="Freeform 3"/>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268738" y="601628"/>
            <a:ext cx="2492588" cy="2492588"/>
            <a:chOff x="0" y="0"/>
            <a:chExt cx="3323450" cy="3323450"/>
          </a:xfrm>
        </p:grpSpPr>
        <p:sp>
          <p:nvSpPr>
            <p:cNvPr id="6" name="Freeform 6"/>
            <p:cNvSpPr/>
            <p:nvPr/>
          </p:nvSpPr>
          <p:spPr>
            <a:xfrm>
              <a:off x="0" y="0"/>
              <a:ext cx="3323336" cy="3323463"/>
            </a:xfrm>
            <a:custGeom>
              <a:avLst/>
              <a:gdLst/>
              <a:ahLst/>
              <a:cxnLst/>
              <a:rect l="l" t="t" r="r" b="b"/>
              <a:pathLst>
                <a:path w="3323336" h="3323463">
                  <a:moveTo>
                    <a:pt x="1661668" y="0"/>
                  </a:moveTo>
                  <a:cubicBezTo>
                    <a:pt x="743966" y="0"/>
                    <a:pt x="0" y="743966"/>
                    <a:pt x="0" y="1661668"/>
                  </a:cubicBezTo>
                  <a:cubicBezTo>
                    <a:pt x="0" y="2579370"/>
                    <a:pt x="743966" y="3323463"/>
                    <a:pt x="1661668" y="3323463"/>
                  </a:cubicBezTo>
                  <a:cubicBezTo>
                    <a:pt x="2579370" y="3323463"/>
                    <a:pt x="3323336" y="2579497"/>
                    <a:pt x="3323336" y="1661795"/>
                  </a:cubicBezTo>
                  <a:cubicBezTo>
                    <a:pt x="3323336" y="744093"/>
                    <a:pt x="2579497" y="0"/>
                    <a:pt x="1661668" y="0"/>
                  </a:cubicBezTo>
                  <a:close/>
                </a:path>
              </a:pathLst>
            </a:custGeom>
            <a:blipFill>
              <a:blip r:embed="rId4"/>
              <a:stretch>
                <a:fillRect t="-16666" r="-3" b="-16666"/>
              </a:stretch>
            </a:blipFill>
          </p:spPr>
          <p:txBody>
            <a:bodyPr/>
            <a:lstStyle/>
            <a:p>
              <a:endParaRPr lang="en-US"/>
            </a:p>
          </p:txBody>
        </p:sp>
      </p:grpSp>
      <p:sp>
        <p:nvSpPr>
          <p:cNvPr id="7" name="TextBox 7"/>
          <p:cNvSpPr txBox="1"/>
          <p:nvPr/>
        </p:nvSpPr>
        <p:spPr>
          <a:xfrm>
            <a:off x="1028700" y="2866240"/>
            <a:ext cx="16481698" cy="6384989"/>
          </a:xfrm>
          <a:prstGeom prst="rect">
            <a:avLst/>
          </a:prstGeom>
        </p:spPr>
        <p:txBody>
          <a:bodyPr lIns="0" tIns="0" rIns="0" bIns="0" rtlCol="0" anchor="t">
            <a:spAutoFit/>
          </a:bodyPr>
          <a:lstStyle/>
          <a:p>
            <a:pPr marL="828040" lvl="2" indent="-276225" algn="l">
              <a:lnSpc>
                <a:spcPts val="5070"/>
              </a:lnSpc>
              <a:buFont typeface="Arial" panose="020B0604020202020204"/>
              <a:buChar char="⚬"/>
            </a:pPr>
            <a:r>
              <a:rPr lang="en-US" sz="3620" spc="-68">
                <a:solidFill>
                  <a:srgbClr val="051D40"/>
                </a:solidFill>
                <a:latin typeface="Poppins" panose="00000500000000000000"/>
                <a:ea typeface="Poppins" panose="00000500000000000000"/>
                <a:cs typeface="Poppins" panose="00000500000000000000"/>
                <a:sym typeface="Poppins" panose="00000500000000000000"/>
              </a:rPr>
              <a:t>Limited RAM (1GB, Pi 3): slows SLAM map updates and leaves little headroom for other processes</a:t>
            </a:r>
          </a:p>
          <a:p>
            <a:pPr marL="828040" lvl="2" indent="-276225" algn="l">
              <a:lnSpc>
                <a:spcPts val="5070"/>
              </a:lnSpc>
              <a:buFont typeface="Arial" panose="020B0604020202020204"/>
              <a:buChar char="⚬"/>
            </a:pPr>
            <a:r>
              <a:rPr lang="en-US" sz="3620" spc="-68">
                <a:solidFill>
                  <a:srgbClr val="051D40"/>
                </a:solidFill>
                <a:latin typeface="Poppins" panose="00000500000000000000"/>
                <a:ea typeface="Poppins" panose="00000500000000000000"/>
                <a:cs typeface="Poppins" panose="00000500000000000000"/>
                <a:sym typeface="Poppins" panose="00000500000000000000"/>
              </a:rPr>
              <a:t>No dynamic obstacle handling: system reacts to obstacles present at scan time, doesn't track or predict moving objects </a:t>
            </a:r>
          </a:p>
          <a:p>
            <a:pPr marL="828040" lvl="2" indent="-276225" algn="l">
              <a:lnSpc>
                <a:spcPts val="5070"/>
              </a:lnSpc>
              <a:buFont typeface="Arial" panose="020B0604020202020204"/>
              <a:buChar char="⚬"/>
            </a:pPr>
            <a:r>
              <a:rPr lang="en-US" sz="3620" spc="-68">
                <a:solidFill>
                  <a:srgbClr val="051D40"/>
                </a:solidFill>
                <a:latin typeface="Poppins" panose="00000500000000000000"/>
                <a:ea typeface="Poppins" panose="00000500000000000000"/>
                <a:cs typeface="Poppins" panose="00000500000000000000"/>
                <a:sym typeface="Poppins" panose="00000500000000000000"/>
              </a:rPr>
              <a:t>Indoor only testing: validated in a single lab environment (~5m × 8m); not tested outdoors or in larger/more complex spaces</a:t>
            </a:r>
          </a:p>
          <a:p>
            <a:pPr marL="828040" lvl="2" indent="-276225" algn="l">
              <a:lnSpc>
                <a:spcPts val="5070"/>
              </a:lnSpc>
              <a:buFont typeface="Arial" panose="020B0604020202020204"/>
              <a:buChar char="⚬"/>
            </a:pPr>
            <a:r>
              <a:rPr lang="en-US" sz="3620" spc="-68">
                <a:solidFill>
                  <a:srgbClr val="051D40"/>
                </a:solidFill>
                <a:latin typeface="Poppins" panose="00000500000000000000"/>
                <a:ea typeface="Poppins" panose="00000500000000000000"/>
                <a:cs typeface="Poppins" panose="00000500000000000000"/>
                <a:sym typeface="Poppins" panose="00000500000000000000"/>
              </a:rPr>
              <a:t>LiDAR only perception: camera is mounted but not yet used for navigation decisions</a:t>
            </a:r>
          </a:p>
          <a:p>
            <a:pPr marL="828040" lvl="2" indent="-276225" algn="l">
              <a:lnSpc>
                <a:spcPts val="5070"/>
              </a:lnSpc>
              <a:buFont typeface="Arial" panose="020B0604020202020204"/>
              <a:buChar char="⚬"/>
            </a:pPr>
            <a:r>
              <a:rPr lang="en-US" sz="3620" spc="-72">
                <a:solidFill>
                  <a:srgbClr val="051D40"/>
                </a:solidFill>
                <a:latin typeface="Poppins" panose="00000500000000000000"/>
                <a:ea typeface="Poppins" panose="00000500000000000000"/>
                <a:cs typeface="Poppins" panose="00000500000000000000"/>
                <a:sym typeface="Poppins" panose="00000500000000000000"/>
              </a:rPr>
              <a:t>Battery dependent performance: motor response varies slightly as LiPo charge drops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430951" y="904875"/>
            <a:ext cx="14961745" cy="2405355"/>
          </a:xfrm>
          <a:prstGeom prst="rect">
            <a:avLst/>
          </a:prstGeom>
        </p:spPr>
        <p:txBody>
          <a:bodyPr lIns="0" tIns="0" rIns="0" bIns="0" rtlCol="0" anchor="t">
            <a:spAutoFit/>
          </a:bodyPr>
          <a:lstStyle/>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SLAM Mapping — Live Environment Map</a:t>
            </a:r>
          </a:p>
        </p:txBody>
      </p:sp>
      <p:sp>
        <p:nvSpPr>
          <p:cNvPr id="3" name="Freeform 3"/>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268738" y="601628"/>
            <a:ext cx="2492588" cy="2492588"/>
            <a:chOff x="0" y="0"/>
            <a:chExt cx="3323450" cy="3323450"/>
          </a:xfrm>
        </p:grpSpPr>
        <p:sp>
          <p:nvSpPr>
            <p:cNvPr id="6" name="Freeform 6"/>
            <p:cNvSpPr/>
            <p:nvPr/>
          </p:nvSpPr>
          <p:spPr>
            <a:xfrm>
              <a:off x="0" y="0"/>
              <a:ext cx="3323336" cy="3323463"/>
            </a:xfrm>
            <a:custGeom>
              <a:avLst/>
              <a:gdLst/>
              <a:ahLst/>
              <a:cxnLst/>
              <a:rect l="l" t="t" r="r" b="b"/>
              <a:pathLst>
                <a:path w="3323336" h="3323463">
                  <a:moveTo>
                    <a:pt x="1661668" y="0"/>
                  </a:moveTo>
                  <a:cubicBezTo>
                    <a:pt x="743966" y="0"/>
                    <a:pt x="0" y="743966"/>
                    <a:pt x="0" y="1661668"/>
                  </a:cubicBezTo>
                  <a:cubicBezTo>
                    <a:pt x="0" y="2579370"/>
                    <a:pt x="743966" y="3323463"/>
                    <a:pt x="1661668" y="3323463"/>
                  </a:cubicBezTo>
                  <a:cubicBezTo>
                    <a:pt x="2579370" y="3323463"/>
                    <a:pt x="3323336" y="2579497"/>
                    <a:pt x="3323336" y="1661795"/>
                  </a:cubicBezTo>
                  <a:cubicBezTo>
                    <a:pt x="3323336" y="744093"/>
                    <a:pt x="2579497" y="0"/>
                    <a:pt x="1661668" y="0"/>
                  </a:cubicBezTo>
                  <a:close/>
                </a:path>
              </a:pathLst>
            </a:custGeom>
            <a:blipFill>
              <a:blip r:embed="rId4"/>
              <a:stretch>
                <a:fillRect t="-16666" r="-3" b="-16666"/>
              </a:stretch>
            </a:blipFill>
          </p:spPr>
          <p:txBody>
            <a:bodyPr/>
            <a:lstStyle/>
            <a:p>
              <a:endParaRPr lang="en-US"/>
            </a:p>
          </p:txBody>
        </p:sp>
      </p:grpSp>
      <p:sp>
        <p:nvSpPr>
          <p:cNvPr id="7" name="Freeform 7"/>
          <p:cNvSpPr/>
          <p:nvPr/>
        </p:nvSpPr>
        <p:spPr>
          <a:xfrm>
            <a:off x="7268823" y="3818211"/>
            <a:ext cx="10123872" cy="5741664"/>
          </a:xfrm>
          <a:custGeom>
            <a:avLst/>
            <a:gdLst/>
            <a:ahLst/>
            <a:cxnLst/>
            <a:rect l="l" t="t" r="r" b="b"/>
            <a:pathLst>
              <a:path w="10123872" h="5741664">
                <a:moveTo>
                  <a:pt x="0" y="0"/>
                </a:moveTo>
                <a:lnTo>
                  <a:pt x="10123872" y="0"/>
                </a:lnTo>
                <a:lnTo>
                  <a:pt x="10123872" y="5741664"/>
                </a:lnTo>
                <a:lnTo>
                  <a:pt x="0" y="5741664"/>
                </a:lnTo>
                <a:lnTo>
                  <a:pt x="0" y="0"/>
                </a:lnTo>
                <a:close/>
              </a:path>
            </a:pathLst>
          </a:custGeom>
          <a:blipFill>
            <a:blip r:embed="rId5"/>
            <a:stretch>
              <a:fillRect t="-10149" b="-135"/>
            </a:stretch>
          </a:blipFill>
        </p:spPr>
        <p:txBody>
          <a:bodyPr/>
          <a:lstStyle/>
          <a:p>
            <a:endParaRPr lang="en-US"/>
          </a:p>
        </p:txBody>
      </p:sp>
      <p:sp>
        <p:nvSpPr>
          <p:cNvPr id="8" name="TextBox 8"/>
          <p:cNvSpPr txBox="1"/>
          <p:nvPr/>
        </p:nvSpPr>
        <p:spPr>
          <a:xfrm>
            <a:off x="472699" y="3751536"/>
            <a:ext cx="6387573" cy="5954675"/>
          </a:xfrm>
          <a:prstGeom prst="rect">
            <a:avLst/>
          </a:prstGeom>
        </p:spPr>
        <p:txBody>
          <a:bodyPr lIns="0" tIns="0" rIns="0" bIns="0" rtlCol="0" anchor="t">
            <a:spAutoFit/>
          </a:bodyPr>
          <a:lstStyle/>
          <a:p>
            <a:pPr marL="594360" lvl="2" indent="-198120" algn="l">
              <a:lnSpc>
                <a:spcPts val="3640"/>
              </a:lnSpc>
              <a:buFont typeface="Arial" panose="020B0604020202020204"/>
              <a:buChar char="⚬"/>
            </a:pPr>
            <a:r>
              <a:rPr lang="en-US" sz="2600" spc="-49">
                <a:solidFill>
                  <a:srgbClr val="051D40"/>
                </a:solidFill>
                <a:latin typeface="Poppins" panose="00000500000000000000"/>
                <a:ea typeface="Poppins" panose="00000500000000000000"/>
                <a:cs typeface="Poppins" panose="00000500000000000000"/>
                <a:sym typeface="Poppins" panose="00000500000000000000"/>
              </a:rPr>
              <a:t>Occupancy grid map built in real time using LiDAR + SLAM Toolbox</a:t>
            </a:r>
          </a:p>
          <a:p>
            <a:pPr marL="594360" lvl="2" indent="-198120" algn="l">
              <a:lnSpc>
                <a:spcPts val="3640"/>
              </a:lnSpc>
              <a:buFont typeface="Arial" panose="020B0604020202020204"/>
              <a:buChar char="⚬"/>
            </a:pPr>
            <a:r>
              <a:rPr lang="en-US" sz="2600" spc="-49">
                <a:solidFill>
                  <a:srgbClr val="051D40"/>
                </a:solidFill>
                <a:latin typeface="Poppins" panose="00000500000000000000"/>
                <a:ea typeface="Poppins" panose="00000500000000000000"/>
                <a:cs typeface="Poppins" panose="00000500000000000000"/>
                <a:sym typeface="Poppins" panose="00000500000000000000"/>
              </a:rPr>
              <a:t>Blue marker shows the robot's estimated pose within the map</a:t>
            </a:r>
          </a:p>
          <a:p>
            <a:pPr marL="594360" lvl="2" indent="-198120" algn="l">
              <a:lnSpc>
                <a:spcPts val="3640"/>
              </a:lnSpc>
              <a:buFont typeface="Arial" panose="020B0604020202020204"/>
              <a:buChar char="⚬"/>
            </a:pPr>
            <a:r>
              <a:rPr lang="en-US" sz="2600" spc="-49">
                <a:solidFill>
                  <a:srgbClr val="051D40"/>
                </a:solidFill>
                <a:latin typeface="Poppins" panose="00000500000000000000"/>
                <a:ea typeface="Poppins" panose="00000500000000000000"/>
                <a:cs typeface="Poppins" panose="00000500000000000000"/>
                <a:sym typeface="Poppins" panose="00000500000000000000"/>
              </a:rPr>
              <a:t>White cells represent free (navigable) space; black cells represent detected obstacles/walls</a:t>
            </a:r>
          </a:p>
          <a:p>
            <a:pPr marL="594360" lvl="2" indent="-198120" algn="l">
              <a:lnSpc>
                <a:spcPts val="3640"/>
              </a:lnSpc>
              <a:buFont typeface="Arial" panose="020B0604020202020204"/>
              <a:buChar char="⚬"/>
            </a:pPr>
            <a:r>
              <a:rPr lang="en-US" sz="2600" spc="-49">
                <a:solidFill>
                  <a:srgbClr val="051D40"/>
                </a:solidFill>
                <a:latin typeface="Poppins" panose="00000500000000000000"/>
                <a:ea typeface="Poppins" panose="00000500000000000000"/>
                <a:cs typeface="Poppins" panose="00000500000000000000"/>
                <a:sym typeface="Poppins" panose="00000500000000000000"/>
              </a:rPr>
              <a:t>Magenta trace shows the path travelled by the robot during exploration</a:t>
            </a:r>
          </a:p>
          <a:p>
            <a:pPr marL="594360" lvl="2" indent="-198120" algn="l">
              <a:lnSpc>
                <a:spcPts val="3640"/>
              </a:lnSpc>
              <a:buFont typeface="Arial" panose="020B0604020202020204"/>
              <a:buChar char="⚬"/>
            </a:pPr>
            <a:r>
              <a:rPr lang="en-US" sz="2600" spc="-51">
                <a:solidFill>
                  <a:srgbClr val="051D40"/>
                </a:solidFill>
                <a:latin typeface="Poppins" panose="00000500000000000000"/>
                <a:ea typeface="Poppins" panose="00000500000000000000"/>
                <a:cs typeface="Poppins" panose="00000500000000000000"/>
                <a:sym typeface="Poppins" panose="00000500000000000000"/>
              </a:rPr>
              <a:t>Map generated through manual teleoperation of the robot around the test environment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68352" y="-3625577"/>
            <a:ext cx="7741006" cy="7741006"/>
          </a:xfrm>
          <a:custGeom>
            <a:avLst/>
            <a:gdLst/>
            <a:ahLst/>
            <a:cxnLst/>
            <a:rect l="l" t="t" r="r" b="b"/>
            <a:pathLst>
              <a:path w="7741006" h="7741006">
                <a:moveTo>
                  <a:pt x="0" y="0"/>
                </a:moveTo>
                <a:lnTo>
                  <a:pt x="7741005" y="0"/>
                </a:lnTo>
                <a:lnTo>
                  <a:pt x="7741005" y="7741006"/>
                </a:lnTo>
                <a:lnTo>
                  <a:pt x="0" y="7741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268738" y="-128711"/>
            <a:ext cx="2186111" cy="2186111"/>
            <a:chOff x="0" y="0"/>
            <a:chExt cx="2914815" cy="2914815"/>
          </a:xfrm>
        </p:grpSpPr>
        <p:sp>
          <p:nvSpPr>
            <p:cNvPr id="4" name="Freeform 4"/>
            <p:cNvSpPr/>
            <p:nvPr/>
          </p:nvSpPr>
          <p:spPr>
            <a:xfrm>
              <a:off x="0" y="0"/>
              <a:ext cx="2914904" cy="2914777"/>
            </a:xfrm>
            <a:custGeom>
              <a:avLst/>
              <a:gdLst/>
              <a:ahLst/>
              <a:cxnLst/>
              <a:rect l="l" t="t" r="r" b="b"/>
              <a:pathLst>
                <a:path w="2914904" h="2914777">
                  <a:moveTo>
                    <a:pt x="1457452" y="0"/>
                  </a:moveTo>
                  <a:cubicBezTo>
                    <a:pt x="652526" y="0"/>
                    <a:pt x="0" y="652526"/>
                    <a:pt x="0" y="1457452"/>
                  </a:cubicBezTo>
                  <a:cubicBezTo>
                    <a:pt x="0" y="2262378"/>
                    <a:pt x="652526" y="2914777"/>
                    <a:pt x="1457452" y="2914777"/>
                  </a:cubicBezTo>
                  <a:cubicBezTo>
                    <a:pt x="2262378" y="2914777"/>
                    <a:pt x="2914904" y="2262251"/>
                    <a:pt x="2914904" y="1457325"/>
                  </a:cubicBezTo>
                  <a:cubicBezTo>
                    <a:pt x="2914904" y="652399"/>
                    <a:pt x="2262251" y="0"/>
                    <a:pt x="1457452" y="0"/>
                  </a:cubicBezTo>
                  <a:close/>
                </a:path>
              </a:pathLst>
            </a:custGeom>
            <a:blipFill>
              <a:blip r:embed="rId5"/>
              <a:stretch>
                <a:fillRect t="-16666" r="3" b="-16668"/>
              </a:stretch>
            </a:blipFill>
          </p:spPr>
          <p:txBody>
            <a:bodyPr/>
            <a:lstStyle/>
            <a:p>
              <a:endParaRPr lang="en-US"/>
            </a:p>
          </p:txBody>
        </p:sp>
      </p:grpSp>
      <p:pic>
        <p:nvPicPr>
          <p:cNvPr id="5" name="Picture 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t="7756" b="10083"/>
          <a:stretch>
            <a:fillRect/>
          </a:stretch>
        </p:blipFill>
        <p:spPr>
          <a:xfrm>
            <a:off x="0" y="1817546"/>
            <a:ext cx="18288000" cy="8469454"/>
          </a:xfrm>
          <a:prstGeom prst="rect">
            <a:avLst/>
          </a:prstGeom>
        </p:spPr>
      </p:pic>
      <p:sp>
        <p:nvSpPr>
          <p:cNvPr id="6" name="TextBox 6"/>
          <p:cNvSpPr txBox="1"/>
          <p:nvPr/>
        </p:nvSpPr>
        <p:spPr>
          <a:xfrm>
            <a:off x="747760" y="68423"/>
            <a:ext cx="14660451" cy="1310640"/>
          </a:xfrm>
          <a:prstGeom prst="rect">
            <a:avLst/>
          </a:prstGeom>
        </p:spPr>
        <p:txBody>
          <a:bodyPr lIns="0" tIns="0" rIns="0" bIns="0" rtlCol="0" anchor="t">
            <a:spAutoFit/>
          </a:bodyPr>
          <a:lstStyle/>
          <a:p>
            <a:pPr algn="ctr">
              <a:lnSpc>
                <a:spcPts val="9660"/>
              </a:lnSpc>
            </a:pPr>
            <a:r>
              <a:rPr lang="en-US" sz="6900" b="1">
                <a:solidFill>
                  <a:srgbClr val="051D40"/>
                </a:solidFill>
                <a:latin typeface="Montserrat Bold" panose="00000800000000000000"/>
                <a:ea typeface="Montserrat Bold" panose="00000800000000000000"/>
                <a:cs typeface="Montserrat Bold" panose="00000800000000000000"/>
                <a:sym typeface="Montserrat Bold" panose="00000800000000000000"/>
              </a:rPr>
              <a:t>RESULTS</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5"/>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477470" y="7328697"/>
            <a:ext cx="311906" cy="311906"/>
          </a:xfrm>
          <a:custGeom>
            <a:avLst/>
            <a:gdLst/>
            <a:ahLst/>
            <a:cxnLst/>
            <a:rect l="l" t="t" r="r" b="b"/>
            <a:pathLst>
              <a:path w="311906" h="311906">
                <a:moveTo>
                  <a:pt x="0" y="0"/>
                </a:moveTo>
                <a:lnTo>
                  <a:pt x="311906" y="0"/>
                </a:lnTo>
                <a:lnTo>
                  <a:pt x="311906" y="311906"/>
                </a:lnTo>
                <a:lnTo>
                  <a:pt x="0" y="3119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3987356" y="7328697"/>
            <a:ext cx="311906" cy="311906"/>
          </a:xfrm>
          <a:custGeom>
            <a:avLst/>
            <a:gdLst/>
            <a:ahLst/>
            <a:cxnLst/>
            <a:rect l="l" t="t" r="r" b="b"/>
            <a:pathLst>
              <a:path w="311906" h="311906">
                <a:moveTo>
                  <a:pt x="0" y="0"/>
                </a:moveTo>
                <a:lnTo>
                  <a:pt x="311905" y="0"/>
                </a:lnTo>
                <a:lnTo>
                  <a:pt x="311905" y="311906"/>
                </a:lnTo>
                <a:lnTo>
                  <a:pt x="0" y="3119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6497250" y="7328697"/>
            <a:ext cx="311906" cy="311906"/>
          </a:xfrm>
          <a:custGeom>
            <a:avLst/>
            <a:gdLst/>
            <a:ahLst/>
            <a:cxnLst/>
            <a:rect l="l" t="t" r="r" b="b"/>
            <a:pathLst>
              <a:path w="311906" h="311906">
                <a:moveTo>
                  <a:pt x="0" y="0"/>
                </a:moveTo>
                <a:lnTo>
                  <a:pt x="311906" y="0"/>
                </a:lnTo>
                <a:lnTo>
                  <a:pt x="311906" y="311906"/>
                </a:lnTo>
                <a:lnTo>
                  <a:pt x="0" y="3119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9007135" y="7328697"/>
            <a:ext cx="311906" cy="311906"/>
          </a:xfrm>
          <a:custGeom>
            <a:avLst/>
            <a:gdLst/>
            <a:ahLst/>
            <a:cxnLst/>
            <a:rect l="l" t="t" r="r" b="b"/>
            <a:pathLst>
              <a:path w="311906" h="311906">
                <a:moveTo>
                  <a:pt x="0" y="0"/>
                </a:moveTo>
                <a:lnTo>
                  <a:pt x="311906" y="0"/>
                </a:lnTo>
                <a:lnTo>
                  <a:pt x="311906" y="311906"/>
                </a:lnTo>
                <a:lnTo>
                  <a:pt x="0" y="3119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1517030" y="7328697"/>
            <a:ext cx="311906" cy="311906"/>
          </a:xfrm>
          <a:custGeom>
            <a:avLst/>
            <a:gdLst/>
            <a:ahLst/>
            <a:cxnLst/>
            <a:rect l="l" t="t" r="r" b="b"/>
            <a:pathLst>
              <a:path w="311906" h="311906">
                <a:moveTo>
                  <a:pt x="0" y="0"/>
                </a:moveTo>
                <a:lnTo>
                  <a:pt x="311906" y="0"/>
                </a:lnTo>
                <a:lnTo>
                  <a:pt x="311906" y="311906"/>
                </a:lnTo>
                <a:lnTo>
                  <a:pt x="0" y="31190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4026915" y="7328697"/>
            <a:ext cx="311906" cy="311906"/>
          </a:xfrm>
          <a:custGeom>
            <a:avLst/>
            <a:gdLst/>
            <a:ahLst/>
            <a:cxnLst/>
            <a:rect l="l" t="t" r="r" b="b"/>
            <a:pathLst>
              <a:path w="311906" h="311906">
                <a:moveTo>
                  <a:pt x="0" y="0"/>
                </a:moveTo>
                <a:lnTo>
                  <a:pt x="311906" y="0"/>
                </a:lnTo>
                <a:lnTo>
                  <a:pt x="311906" y="311906"/>
                </a:lnTo>
                <a:lnTo>
                  <a:pt x="0" y="31190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16536810" y="7328697"/>
            <a:ext cx="311906" cy="311906"/>
          </a:xfrm>
          <a:custGeom>
            <a:avLst/>
            <a:gdLst/>
            <a:ahLst/>
            <a:cxnLst/>
            <a:rect l="l" t="t" r="r" b="b"/>
            <a:pathLst>
              <a:path w="311906" h="311906">
                <a:moveTo>
                  <a:pt x="0" y="0"/>
                </a:moveTo>
                <a:lnTo>
                  <a:pt x="311905" y="0"/>
                </a:lnTo>
                <a:lnTo>
                  <a:pt x="311905" y="311906"/>
                </a:lnTo>
                <a:lnTo>
                  <a:pt x="0" y="31190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 name="Freeform 9"/>
          <p:cNvSpPr/>
          <p:nvPr/>
        </p:nvSpPr>
        <p:spPr>
          <a:xfrm>
            <a:off x="538296" y="3246949"/>
            <a:ext cx="2106987" cy="3827183"/>
          </a:xfrm>
          <a:custGeom>
            <a:avLst/>
            <a:gdLst/>
            <a:ahLst/>
            <a:cxnLst/>
            <a:rect l="l" t="t" r="r" b="b"/>
            <a:pathLst>
              <a:path w="2106987" h="3827183">
                <a:moveTo>
                  <a:pt x="0" y="0"/>
                </a:moveTo>
                <a:lnTo>
                  <a:pt x="2106987" y="0"/>
                </a:lnTo>
                <a:lnTo>
                  <a:pt x="2106987" y="3827183"/>
                </a:lnTo>
                <a:lnTo>
                  <a:pt x="0" y="382718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Freeform 10"/>
          <p:cNvSpPr/>
          <p:nvPr/>
        </p:nvSpPr>
        <p:spPr>
          <a:xfrm>
            <a:off x="3048181" y="3246949"/>
            <a:ext cx="2106987" cy="3827183"/>
          </a:xfrm>
          <a:custGeom>
            <a:avLst/>
            <a:gdLst/>
            <a:ahLst/>
            <a:cxnLst/>
            <a:rect l="l" t="t" r="r" b="b"/>
            <a:pathLst>
              <a:path w="2106987" h="3827183">
                <a:moveTo>
                  <a:pt x="0" y="0"/>
                </a:moveTo>
                <a:lnTo>
                  <a:pt x="2106987" y="0"/>
                </a:lnTo>
                <a:lnTo>
                  <a:pt x="2106987" y="3827183"/>
                </a:lnTo>
                <a:lnTo>
                  <a:pt x="0" y="382718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1" name="Freeform 11"/>
          <p:cNvSpPr/>
          <p:nvPr/>
        </p:nvSpPr>
        <p:spPr>
          <a:xfrm>
            <a:off x="1026538" y="2840193"/>
            <a:ext cx="1130503" cy="1130503"/>
          </a:xfrm>
          <a:custGeom>
            <a:avLst/>
            <a:gdLst/>
            <a:ahLst/>
            <a:cxnLst/>
            <a:rect l="l" t="t" r="r" b="b"/>
            <a:pathLst>
              <a:path w="1130503" h="1130503">
                <a:moveTo>
                  <a:pt x="0" y="0"/>
                </a:moveTo>
                <a:lnTo>
                  <a:pt x="1130503" y="0"/>
                </a:lnTo>
                <a:lnTo>
                  <a:pt x="1130503" y="1130503"/>
                </a:lnTo>
                <a:lnTo>
                  <a:pt x="0" y="1130503"/>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3536432" y="2840193"/>
            <a:ext cx="1130503" cy="1130503"/>
          </a:xfrm>
          <a:custGeom>
            <a:avLst/>
            <a:gdLst/>
            <a:ahLst/>
            <a:cxnLst/>
            <a:rect l="l" t="t" r="r" b="b"/>
            <a:pathLst>
              <a:path w="1130503" h="1130503">
                <a:moveTo>
                  <a:pt x="0" y="0"/>
                </a:moveTo>
                <a:lnTo>
                  <a:pt x="1130504" y="0"/>
                </a:lnTo>
                <a:lnTo>
                  <a:pt x="1130504" y="1130503"/>
                </a:lnTo>
                <a:lnTo>
                  <a:pt x="0" y="1130503"/>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5558076" y="3246949"/>
            <a:ext cx="2106987" cy="3827183"/>
          </a:xfrm>
          <a:custGeom>
            <a:avLst/>
            <a:gdLst/>
            <a:ahLst/>
            <a:cxnLst/>
            <a:rect l="l" t="t" r="r" b="b"/>
            <a:pathLst>
              <a:path w="2106987" h="3827183">
                <a:moveTo>
                  <a:pt x="0" y="0"/>
                </a:moveTo>
                <a:lnTo>
                  <a:pt x="2106987" y="0"/>
                </a:lnTo>
                <a:lnTo>
                  <a:pt x="2106987" y="3827183"/>
                </a:lnTo>
                <a:lnTo>
                  <a:pt x="0" y="382718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4" name="Freeform 14"/>
          <p:cNvSpPr/>
          <p:nvPr/>
        </p:nvSpPr>
        <p:spPr>
          <a:xfrm>
            <a:off x="6046318" y="2840193"/>
            <a:ext cx="1130503" cy="1130503"/>
          </a:xfrm>
          <a:custGeom>
            <a:avLst/>
            <a:gdLst/>
            <a:ahLst/>
            <a:cxnLst/>
            <a:rect l="l" t="t" r="r" b="b"/>
            <a:pathLst>
              <a:path w="1130503" h="1130503">
                <a:moveTo>
                  <a:pt x="0" y="0"/>
                </a:moveTo>
                <a:lnTo>
                  <a:pt x="1130503" y="0"/>
                </a:lnTo>
                <a:lnTo>
                  <a:pt x="1130503" y="1130503"/>
                </a:lnTo>
                <a:lnTo>
                  <a:pt x="0" y="1130503"/>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5" name="Freeform 15"/>
          <p:cNvSpPr/>
          <p:nvPr/>
        </p:nvSpPr>
        <p:spPr>
          <a:xfrm>
            <a:off x="8067970" y="3246949"/>
            <a:ext cx="2106987" cy="3827183"/>
          </a:xfrm>
          <a:custGeom>
            <a:avLst/>
            <a:gdLst/>
            <a:ahLst/>
            <a:cxnLst/>
            <a:rect l="l" t="t" r="r" b="b"/>
            <a:pathLst>
              <a:path w="2106987" h="3827183">
                <a:moveTo>
                  <a:pt x="0" y="0"/>
                </a:moveTo>
                <a:lnTo>
                  <a:pt x="2106987" y="0"/>
                </a:lnTo>
                <a:lnTo>
                  <a:pt x="2106987" y="3827183"/>
                </a:lnTo>
                <a:lnTo>
                  <a:pt x="0" y="382718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6" name="Freeform 16"/>
          <p:cNvSpPr/>
          <p:nvPr/>
        </p:nvSpPr>
        <p:spPr>
          <a:xfrm>
            <a:off x="8556212" y="2840193"/>
            <a:ext cx="1130503" cy="1130503"/>
          </a:xfrm>
          <a:custGeom>
            <a:avLst/>
            <a:gdLst/>
            <a:ahLst/>
            <a:cxnLst/>
            <a:rect l="l" t="t" r="r" b="b"/>
            <a:pathLst>
              <a:path w="1130503" h="1130503">
                <a:moveTo>
                  <a:pt x="0" y="0"/>
                </a:moveTo>
                <a:lnTo>
                  <a:pt x="1130503" y="0"/>
                </a:lnTo>
                <a:lnTo>
                  <a:pt x="1130503" y="1130503"/>
                </a:lnTo>
                <a:lnTo>
                  <a:pt x="0" y="1130503"/>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7" name="Freeform 17"/>
          <p:cNvSpPr/>
          <p:nvPr/>
        </p:nvSpPr>
        <p:spPr>
          <a:xfrm>
            <a:off x="10577855" y="3246949"/>
            <a:ext cx="2106987" cy="3827183"/>
          </a:xfrm>
          <a:custGeom>
            <a:avLst/>
            <a:gdLst/>
            <a:ahLst/>
            <a:cxnLst/>
            <a:rect l="l" t="t" r="r" b="b"/>
            <a:pathLst>
              <a:path w="2106987" h="3827183">
                <a:moveTo>
                  <a:pt x="0" y="0"/>
                </a:moveTo>
                <a:lnTo>
                  <a:pt x="2106988" y="0"/>
                </a:lnTo>
                <a:lnTo>
                  <a:pt x="2106988" y="3827183"/>
                </a:lnTo>
                <a:lnTo>
                  <a:pt x="0" y="382718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8" name="Freeform 18"/>
          <p:cNvSpPr/>
          <p:nvPr/>
        </p:nvSpPr>
        <p:spPr>
          <a:xfrm>
            <a:off x="11066097" y="2840193"/>
            <a:ext cx="1130503" cy="1130503"/>
          </a:xfrm>
          <a:custGeom>
            <a:avLst/>
            <a:gdLst/>
            <a:ahLst/>
            <a:cxnLst/>
            <a:rect l="l" t="t" r="r" b="b"/>
            <a:pathLst>
              <a:path w="1130503" h="1130503">
                <a:moveTo>
                  <a:pt x="0" y="0"/>
                </a:moveTo>
                <a:lnTo>
                  <a:pt x="1130504" y="0"/>
                </a:lnTo>
                <a:lnTo>
                  <a:pt x="1130504" y="1130503"/>
                </a:lnTo>
                <a:lnTo>
                  <a:pt x="0" y="1130503"/>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9" name="Freeform 19"/>
          <p:cNvSpPr/>
          <p:nvPr/>
        </p:nvSpPr>
        <p:spPr>
          <a:xfrm>
            <a:off x="13087750" y="3246949"/>
            <a:ext cx="2106987" cy="3827183"/>
          </a:xfrm>
          <a:custGeom>
            <a:avLst/>
            <a:gdLst/>
            <a:ahLst/>
            <a:cxnLst/>
            <a:rect l="l" t="t" r="r" b="b"/>
            <a:pathLst>
              <a:path w="2106987" h="3827183">
                <a:moveTo>
                  <a:pt x="0" y="0"/>
                </a:moveTo>
                <a:lnTo>
                  <a:pt x="2106987" y="0"/>
                </a:lnTo>
                <a:lnTo>
                  <a:pt x="2106987" y="3827183"/>
                </a:lnTo>
                <a:lnTo>
                  <a:pt x="0" y="382718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0" name="Freeform 20"/>
          <p:cNvSpPr/>
          <p:nvPr/>
        </p:nvSpPr>
        <p:spPr>
          <a:xfrm>
            <a:off x="13575992" y="2840193"/>
            <a:ext cx="1130503" cy="1130503"/>
          </a:xfrm>
          <a:custGeom>
            <a:avLst/>
            <a:gdLst/>
            <a:ahLst/>
            <a:cxnLst/>
            <a:rect l="l" t="t" r="r" b="b"/>
            <a:pathLst>
              <a:path w="1130503" h="1130503">
                <a:moveTo>
                  <a:pt x="0" y="0"/>
                </a:moveTo>
                <a:lnTo>
                  <a:pt x="1130503" y="0"/>
                </a:lnTo>
                <a:lnTo>
                  <a:pt x="1130503" y="1130503"/>
                </a:lnTo>
                <a:lnTo>
                  <a:pt x="0" y="1130503"/>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21" name="Freeform 21"/>
          <p:cNvSpPr/>
          <p:nvPr/>
        </p:nvSpPr>
        <p:spPr>
          <a:xfrm>
            <a:off x="15597635" y="3246949"/>
            <a:ext cx="2106987" cy="3827183"/>
          </a:xfrm>
          <a:custGeom>
            <a:avLst/>
            <a:gdLst/>
            <a:ahLst/>
            <a:cxnLst/>
            <a:rect l="l" t="t" r="r" b="b"/>
            <a:pathLst>
              <a:path w="2106987" h="3827183">
                <a:moveTo>
                  <a:pt x="0" y="0"/>
                </a:moveTo>
                <a:lnTo>
                  <a:pt x="2106987" y="0"/>
                </a:lnTo>
                <a:lnTo>
                  <a:pt x="2106987" y="3827183"/>
                </a:lnTo>
                <a:lnTo>
                  <a:pt x="0" y="382718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2" name="Freeform 22"/>
          <p:cNvSpPr/>
          <p:nvPr/>
        </p:nvSpPr>
        <p:spPr>
          <a:xfrm>
            <a:off x="16085877" y="2840193"/>
            <a:ext cx="1130503" cy="1130503"/>
          </a:xfrm>
          <a:custGeom>
            <a:avLst/>
            <a:gdLst/>
            <a:ahLst/>
            <a:cxnLst/>
            <a:rect l="l" t="t" r="r" b="b"/>
            <a:pathLst>
              <a:path w="1130503" h="1130503">
                <a:moveTo>
                  <a:pt x="0" y="0"/>
                </a:moveTo>
                <a:lnTo>
                  <a:pt x="1130503" y="0"/>
                </a:lnTo>
                <a:lnTo>
                  <a:pt x="1130503" y="1130503"/>
                </a:lnTo>
                <a:lnTo>
                  <a:pt x="0" y="1130503"/>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23" name="Group 23"/>
          <p:cNvGrpSpPr/>
          <p:nvPr/>
        </p:nvGrpSpPr>
        <p:grpSpPr>
          <a:xfrm>
            <a:off x="268738" y="286007"/>
            <a:ext cx="2186111" cy="2186111"/>
            <a:chOff x="0" y="0"/>
            <a:chExt cx="2914815" cy="2914815"/>
          </a:xfrm>
        </p:grpSpPr>
        <p:sp>
          <p:nvSpPr>
            <p:cNvPr id="24" name="Freeform 24"/>
            <p:cNvSpPr/>
            <p:nvPr/>
          </p:nvSpPr>
          <p:spPr>
            <a:xfrm>
              <a:off x="0" y="0"/>
              <a:ext cx="2914904" cy="2914777"/>
            </a:xfrm>
            <a:custGeom>
              <a:avLst/>
              <a:gdLst/>
              <a:ahLst/>
              <a:cxnLst/>
              <a:rect l="l" t="t" r="r" b="b"/>
              <a:pathLst>
                <a:path w="2914904" h="2914777">
                  <a:moveTo>
                    <a:pt x="1457452" y="0"/>
                  </a:moveTo>
                  <a:cubicBezTo>
                    <a:pt x="652526" y="0"/>
                    <a:pt x="0" y="652526"/>
                    <a:pt x="0" y="1457452"/>
                  </a:cubicBezTo>
                  <a:cubicBezTo>
                    <a:pt x="0" y="2262378"/>
                    <a:pt x="652526" y="2914777"/>
                    <a:pt x="1457452" y="2914777"/>
                  </a:cubicBezTo>
                  <a:cubicBezTo>
                    <a:pt x="2262378" y="2914777"/>
                    <a:pt x="2914904" y="2262251"/>
                    <a:pt x="2914904" y="1457325"/>
                  </a:cubicBezTo>
                  <a:cubicBezTo>
                    <a:pt x="2914904" y="652399"/>
                    <a:pt x="2262251" y="0"/>
                    <a:pt x="1457452" y="0"/>
                  </a:cubicBezTo>
                  <a:close/>
                </a:path>
              </a:pathLst>
            </a:custGeom>
            <a:blipFill>
              <a:blip r:embed="rId17"/>
              <a:stretch>
                <a:fillRect t="-16666" r="3" b="-16668"/>
              </a:stretch>
            </a:blipFill>
          </p:spPr>
          <p:txBody>
            <a:bodyPr/>
            <a:lstStyle/>
            <a:p>
              <a:endParaRPr lang="en-US"/>
            </a:p>
          </p:txBody>
        </p:sp>
      </p:grpSp>
      <p:grpSp>
        <p:nvGrpSpPr>
          <p:cNvPr id="25" name="Group 25"/>
          <p:cNvGrpSpPr/>
          <p:nvPr/>
        </p:nvGrpSpPr>
        <p:grpSpPr>
          <a:xfrm>
            <a:off x="1268873" y="3117104"/>
            <a:ext cx="645843" cy="645843"/>
            <a:chOff x="0" y="0"/>
            <a:chExt cx="861124" cy="861124"/>
          </a:xfrm>
        </p:grpSpPr>
        <p:sp>
          <p:nvSpPr>
            <p:cNvPr id="26" name="Freeform 26"/>
            <p:cNvSpPr/>
            <p:nvPr/>
          </p:nvSpPr>
          <p:spPr>
            <a:xfrm>
              <a:off x="0" y="0"/>
              <a:ext cx="861060" cy="861060"/>
            </a:xfrm>
            <a:custGeom>
              <a:avLst/>
              <a:gdLst/>
              <a:ahLst/>
              <a:cxnLst/>
              <a:rect l="l" t="t" r="r" b="b"/>
              <a:pathLst>
                <a:path w="861060" h="861060">
                  <a:moveTo>
                    <a:pt x="0" y="0"/>
                  </a:moveTo>
                  <a:lnTo>
                    <a:pt x="861060" y="0"/>
                  </a:lnTo>
                  <a:lnTo>
                    <a:pt x="861060" y="861060"/>
                  </a:lnTo>
                  <a:lnTo>
                    <a:pt x="0" y="861060"/>
                  </a:lnTo>
                  <a:lnTo>
                    <a:pt x="0" y="0"/>
                  </a:lnTo>
                  <a:close/>
                </a:path>
              </a:pathLst>
            </a:custGeom>
            <a:blipFill>
              <a:blip r:embed="rId18"/>
              <a:stretch>
                <a:fillRect r="-7" b="-7"/>
              </a:stretch>
            </a:blipFill>
          </p:spPr>
          <p:txBody>
            <a:bodyPr/>
            <a:lstStyle/>
            <a:p>
              <a:endParaRPr lang="en-US"/>
            </a:p>
          </p:txBody>
        </p:sp>
      </p:grpSp>
      <p:grpSp>
        <p:nvGrpSpPr>
          <p:cNvPr id="27" name="Group 27"/>
          <p:cNvGrpSpPr/>
          <p:nvPr/>
        </p:nvGrpSpPr>
        <p:grpSpPr>
          <a:xfrm>
            <a:off x="3826307" y="3057077"/>
            <a:ext cx="634013" cy="634013"/>
            <a:chOff x="0" y="0"/>
            <a:chExt cx="845350" cy="845350"/>
          </a:xfrm>
        </p:grpSpPr>
        <p:sp>
          <p:nvSpPr>
            <p:cNvPr id="28" name="Freeform 28"/>
            <p:cNvSpPr/>
            <p:nvPr/>
          </p:nvSpPr>
          <p:spPr>
            <a:xfrm>
              <a:off x="0" y="0"/>
              <a:ext cx="845312" cy="845312"/>
            </a:xfrm>
            <a:custGeom>
              <a:avLst/>
              <a:gdLst/>
              <a:ahLst/>
              <a:cxnLst/>
              <a:rect l="l" t="t" r="r" b="b"/>
              <a:pathLst>
                <a:path w="845312" h="845312">
                  <a:moveTo>
                    <a:pt x="0" y="0"/>
                  </a:moveTo>
                  <a:lnTo>
                    <a:pt x="845312" y="0"/>
                  </a:lnTo>
                  <a:lnTo>
                    <a:pt x="845312" y="845312"/>
                  </a:lnTo>
                  <a:lnTo>
                    <a:pt x="0" y="845312"/>
                  </a:lnTo>
                  <a:lnTo>
                    <a:pt x="0" y="0"/>
                  </a:lnTo>
                  <a:close/>
                </a:path>
              </a:pathLst>
            </a:custGeom>
            <a:blipFill>
              <a:blip r:embed="rId19"/>
              <a:stretch>
                <a:fillRect r="-4" b="-4"/>
              </a:stretch>
            </a:blipFill>
          </p:spPr>
          <p:txBody>
            <a:bodyPr/>
            <a:lstStyle/>
            <a:p>
              <a:endParaRPr lang="en-US"/>
            </a:p>
          </p:txBody>
        </p:sp>
      </p:grpSp>
      <p:grpSp>
        <p:nvGrpSpPr>
          <p:cNvPr id="29" name="Group 29"/>
          <p:cNvGrpSpPr/>
          <p:nvPr/>
        </p:nvGrpSpPr>
        <p:grpSpPr>
          <a:xfrm>
            <a:off x="6268212" y="3026931"/>
            <a:ext cx="769972" cy="769972"/>
            <a:chOff x="0" y="0"/>
            <a:chExt cx="1026630" cy="1026630"/>
          </a:xfrm>
        </p:grpSpPr>
        <p:sp>
          <p:nvSpPr>
            <p:cNvPr id="30" name="Freeform 30"/>
            <p:cNvSpPr/>
            <p:nvPr/>
          </p:nvSpPr>
          <p:spPr>
            <a:xfrm>
              <a:off x="0" y="0"/>
              <a:ext cx="1026668" cy="1026668"/>
            </a:xfrm>
            <a:custGeom>
              <a:avLst/>
              <a:gdLst/>
              <a:ahLst/>
              <a:cxnLst/>
              <a:rect l="l" t="t" r="r" b="b"/>
              <a:pathLst>
                <a:path w="1026668" h="1026668">
                  <a:moveTo>
                    <a:pt x="0" y="0"/>
                  </a:moveTo>
                  <a:lnTo>
                    <a:pt x="1026668" y="0"/>
                  </a:lnTo>
                  <a:lnTo>
                    <a:pt x="1026668" y="1026668"/>
                  </a:lnTo>
                  <a:lnTo>
                    <a:pt x="0" y="1026668"/>
                  </a:lnTo>
                  <a:lnTo>
                    <a:pt x="0" y="0"/>
                  </a:lnTo>
                  <a:close/>
                </a:path>
              </a:pathLst>
            </a:custGeom>
            <a:blipFill>
              <a:blip r:embed="rId20"/>
              <a:stretch>
                <a:fillRect r="3" b="3"/>
              </a:stretch>
            </a:blipFill>
          </p:spPr>
          <p:txBody>
            <a:bodyPr/>
            <a:lstStyle/>
            <a:p>
              <a:endParaRPr lang="en-US"/>
            </a:p>
          </p:txBody>
        </p:sp>
      </p:grpSp>
      <p:grpSp>
        <p:nvGrpSpPr>
          <p:cNvPr id="31" name="Group 31"/>
          <p:cNvGrpSpPr/>
          <p:nvPr/>
        </p:nvGrpSpPr>
        <p:grpSpPr>
          <a:xfrm>
            <a:off x="8763810" y="3107922"/>
            <a:ext cx="715308" cy="715308"/>
            <a:chOff x="0" y="0"/>
            <a:chExt cx="953745" cy="953745"/>
          </a:xfrm>
        </p:grpSpPr>
        <p:sp>
          <p:nvSpPr>
            <p:cNvPr id="32" name="Freeform 32"/>
            <p:cNvSpPr/>
            <p:nvPr/>
          </p:nvSpPr>
          <p:spPr>
            <a:xfrm>
              <a:off x="0" y="0"/>
              <a:ext cx="953770" cy="953770"/>
            </a:xfrm>
            <a:custGeom>
              <a:avLst/>
              <a:gdLst/>
              <a:ahLst/>
              <a:cxnLst/>
              <a:rect l="l" t="t" r="r" b="b"/>
              <a:pathLst>
                <a:path w="953770" h="953770">
                  <a:moveTo>
                    <a:pt x="0" y="0"/>
                  </a:moveTo>
                  <a:lnTo>
                    <a:pt x="953770" y="0"/>
                  </a:lnTo>
                  <a:lnTo>
                    <a:pt x="953770" y="953770"/>
                  </a:lnTo>
                  <a:lnTo>
                    <a:pt x="0" y="953770"/>
                  </a:lnTo>
                  <a:lnTo>
                    <a:pt x="0" y="0"/>
                  </a:lnTo>
                  <a:close/>
                </a:path>
              </a:pathLst>
            </a:custGeom>
            <a:blipFill>
              <a:blip r:embed="rId21"/>
              <a:stretch>
                <a:fillRect r="2" b="2"/>
              </a:stretch>
            </a:blipFill>
          </p:spPr>
          <p:txBody>
            <a:bodyPr/>
            <a:lstStyle/>
            <a:p>
              <a:endParaRPr lang="en-US"/>
            </a:p>
          </p:txBody>
        </p:sp>
      </p:grpSp>
      <p:grpSp>
        <p:nvGrpSpPr>
          <p:cNvPr id="33" name="Group 33"/>
          <p:cNvGrpSpPr/>
          <p:nvPr/>
        </p:nvGrpSpPr>
        <p:grpSpPr>
          <a:xfrm>
            <a:off x="11338493" y="3099254"/>
            <a:ext cx="585721" cy="585721"/>
            <a:chOff x="0" y="0"/>
            <a:chExt cx="780961" cy="780961"/>
          </a:xfrm>
        </p:grpSpPr>
        <p:sp>
          <p:nvSpPr>
            <p:cNvPr id="34" name="Freeform 34"/>
            <p:cNvSpPr/>
            <p:nvPr/>
          </p:nvSpPr>
          <p:spPr>
            <a:xfrm>
              <a:off x="0" y="0"/>
              <a:ext cx="780923" cy="780923"/>
            </a:xfrm>
            <a:custGeom>
              <a:avLst/>
              <a:gdLst/>
              <a:ahLst/>
              <a:cxnLst/>
              <a:rect l="l" t="t" r="r" b="b"/>
              <a:pathLst>
                <a:path w="780923" h="780923">
                  <a:moveTo>
                    <a:pt x="0" y="0"/>
                  </a:moveTo>
                  <a:lnTo>
                    <a:pt x="780923" y="0"/>
                  </a:lnTo>
                  <a:lnTo>
                    <a:pt x="780923" y="780923"/>
                  </a:lnTo>
                  <a:lnTo>
                    <a:pt x="0" y="780923"/>
                  </a:lnTo>
                  <a:lnTo>
                    <a:pt x="0" y="0"/>
                  </a:lnTo>
                  <a:close/>
                </a:path>
              </a:pathLst>
            </a:custGeom>
            <a:blipFill>
              <a:blip r:embed="rId22"/>
              <a:stretch>
                <a:fillRect r="-4" b="-4"/>
              </a:stretch>
            </a:blipFill>
          </p:spPr>
          <p:txBody>
            <a:bodyPr/>
            <a:lstStyle/>
            <a:p>
              <a:endParaRPr lang="en-US"/>
            </a:p>
          </p:txBody>
        </p:sp>
      </p:grpSp>
      <p:grpSp>
        <p:nvGrpSpPr>
          <p:cNvPr id="35" name="Group 35"/>
          <p:cNvGrpSpPr/>
          <p:nvPr/>
        </p:nvGrpSpPr>
        <p:grpSpPr>
          <a:xfrm>
            <a:off x="13846893" y="3081595"/>
            <a:ext cx="715308" cy="715308"/>
            <a:chOff x="0" y="0"/>
            <a:chExt cx="953745" cy="953745"/>
          </a:xfrm>
        </p:grpSpPr>
        <p:sp>
          <p:nvSpPr>
            <p:cNvPr id="36" name="Freeform 36"/>
            <p:cNvSpPr/>
            <p:nvPr/>
          </p:nvSpPr>
          <p:spPr>
            <a:xfrm>
              <a:off x="0" y="0"/>
              <a:ext cx="953770" cy="953770"/>
            </a:xfrm>
            <a:custGeom>
              <a:avLst/>
              <a:gdLst/>
              <a:ahLst/>
              <a:cxnLst/>
              <a:rect l="l" t="t" r="r" b="b"/>
              <a:pathLst>
                <a:path w="953770" h="953770">
                  <a:moveTo>
                    <a:pt x="0" y="0"/>
                  </a:moveTo>
                  <a:lnTo>
                    <a:pt x="953770" y="0"/>
                  </a:lnTo>
                  <a:lnTo>
                    <a:pt x="953770" y="953770"/>
                  </a:lnTo>
                  <a:lnTo>
                    <a:pt x="0" y="953770"/>
                  </a:lnTo>
                  <a:lnTo>
                    <a:pt x="0" y="0"/>
                  </a:lnTo>
                  <a:close/>
                </a:path>
              </a:pathLst>
            </a:custGeom>
            <a:blipFill>
              <a:blip r:embed="rId23"/>
              <a:stretch>
                <a:fillRect r="2" b="2"/>
              </a:stretch>
            </a:blipFill>
          </p:spPr>
          <p:txBody>
            <a:bodyPr/>
            <a:lstStyle/>
            <a:p>
              <a:endParaRPr lang="en-US"/>
            </a:p>
          </p:txBody>
        </p:sp>
      </p:grpSp>
      <p:grpSp>
        <p:nvGrpSpPr>
          <p:cNvPr id="37" name="Group 37"/>
          <p:cNvGrpSpPr/>
          <p:nvPr/>
        </p:nvGrpSpPr>
        <p:grpSpPr>
          <a:xfrm>
            <a:off x="16223437" y="3004137"/>
            <a:ext cx="802615" cy="802615"/>
            <a:chOff x="0" y="0"/>
            <a:chExt cx="1070153" cy="1070153"/>
          </a:xfrm>
        </p:grpSpPr>
        <p:sp>
          <p:nvSpPr>
            <p:cNvPr id="38" name="Freeform 38"/>
            <p:cNvSpPr/>
            <p:nvPr/>
          </p:nvSpPr>
          <p:spPr>
            <a:xfrm>
              <a:off x="0" y="0"/>
              <a:ext cx="1070102" cy="1070102"/>
            </a:xfrm>
            <a:custGeom>
              <a:avLst/>
              <a:gdLst/>
              <a:ahLst/>
              <a:cxnLst/>
              <a:rect l="l" t="t" r="r" b="b"/>
              <a:pathLst>
                <a:path w="1070102" h="1070102">
                  <a:moveTo>
                    <a:pt x="0" y="0"/>
                  </a:moveTo>
                  <a:lnTo>
                    <a:pt x="1070102" y="0"/>
                  </a:lnTo>
                  <a:lnTo>
                    <a:pt x="1070102" y="1070102"/>
                  </a:lnTo>
                  <a:lnTo>
                    <a:pt x="0" y="1070102"/>
                  </a:lnTo>
                  <a:lnTo>
                    <a:pt x="0" y="0"/>
                  </a:lnTo>
                  <a:close/>
                </a:path>
              </a:pathLst>
            </a:custGeom>
            <a:blipFill>
              <a:blip r:embed="rId24"/>
              <a:stretch>
                <a:fillRect r="-4" b="-4"/>
              </a:stretch>
            </a:blipFill>
          </p:spPr>
          <p:txBody>
            <a:bodyPr/>
            <a:lstStyle/>
            <a:p>
              <a:endParaRPr lang="en-US"/>
            </a:p>
          </p:txBody>
        </p:sp>
      </p:grpSp>
      <p:sp>
        <p:nvSpPr>
          <p:cNvPr id="39" name="TextBox 39"/>
          <p:cNvSpPr txBox="1"/>
          <p:nvPr/>
        </p:nvSpPr>
        <p:spPr>
          <a:xfrm>
            <a:off x="753723" y="4896745"/>
            <a:ext cx="1676124" cy="1345168"/>
          </a:xfrm>
          <a:prstGeom prst="rect">
            <a:avLst/>
          </a:prstGeom>
        </p:spPr>
        <p:txBody>
          <a:bodyPr lIns="0" tIns="0" rIns="0" bIns="0" rtlCol="0" anchor="t">
            <a:spAutoFit/>
          </a:bodyPr>
          <a:lstStyle/>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Literature review of existing path planning techniques.</a:t>
            </a:r>
          </a:p>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 Finalize problem statement and project objectives.</a:t>
            </a:r>
          </a:p>
        </p:txBody>
      </p:sp>
      <p:sp>
        <p:nvSpPr>
          <p:cNvPr id="40" name="TextBox 40"/>
          <p:cNvSpPr txBox="1"/>
          <p:nvPr/>
        </p:nvSpPr>
        <p:spPr>
          <a:xfrm>
            <a:off x="3263617" y="4896745"/>
            <a:ext cx="1676124" cy="1345168"/>
          </a:xfrm>
          <a:prstGeom prst="rect">
            <a:avLst/>
          </a:prstGeom>
        </p:spPr>
        <p:txBody>
          <a:bodyPr lIns="0" tIns="0" rIns="0" bIns="0" rtlCol="0" anchor="t">
            <a:spAutoFit/>
          </a:bodyPr>
          <a:lstStyle/>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Select simulation platforms and software tools.</a:t>
            </a:r>
          </a:p>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 Study ROS2 environment and path planning frameworks.</a:t>
            </a:r>
          </a:p>
        </p:txBody>
      </p:sp>
      <p:sp>
        <p:nvSpPr>
          <p:cNvPr id="41" name="TextBox 41"/>
          <p:cNvSpPr txBox="1"/>
          <p:nvPr/>
        </p:nvSpPr>
        <p:spPr>
          <a:xfrm>
            <a:off x="854697" y="4208850"/>
            <a:ext cx="1474175" cy="203635"/>
          </a:xfrm>
          <a:prstGeom prst="rect">
            <a:avLst/>
          </a:prstGeom>
        </p:spPr>
        <p:txBody>
          <a:bodyPr lIns="0" tIns="0" rIns="0" bIns="0" rtlCol="0" anchor="t">
            <a:spAutoFit/>
          </a:bodyPr>
          <a:lstStyle/>
          <a:p>
            <a:pPr algn="ctr">
              <a:lnSpc>
                <a:spcPts val="1485"/>
              </a:lnSpc>
            </a:pPr>
            <a:r>
              <a:rPr lang="en-US" sz="970" b="1" spc="26">
                <a:solidFill>
                  <a:srgbClr val="521DF1"/>
                </a:solidFill>
                <a:latin typeface="Montserrat Bold" panose="00000800000000000000"/>
                <a:ea typeface="Montserrat Bold" panose="00000800000000000000"/>
                <a:cs typeface="Montserrat Bold" panose="00000800000000000000"/>
                <a:sym typeface="Montserrat Bold" panose="00000800000000000000"/>
              </a:rPr>
              <a:t>FIRST MILESTONE</a:t>
            </a:r>
          </a:p>
        </p:txBody>
      </p:sp>
      <p:sp>
        <p:nvSpPr>
          <p:cNvPr id="42" name="TextBox 42"/>
          <p:cNvSpPr txBox="1"/>
          <p:nvPr/>
        </p:nvSpPr>
        <p:spPr>
          <a:xfrm>
            <a:off x="3364592" y="4208850"/>
            <a:ext cx="1474175" cy="203635"/>
          </a:xfrm>
          <a:prstGeom prst="rect">
            <a:avLst/>
          </a:prstGeom>
        </p:spPr>
        <p:txBody>
          <a:bodyPr lIns="0" tIns="0" rIns="0" bIns="0" rtlCol="0" anchor="t">
            <a:spAutoFit/>
          </a:bodyPr>
          <a:lstStyle/>
          <a:p>
            <a:pPr algn="ctr">
              <a:lnSpc>
                <a:spcPts val="1485"/>
              </a:lnSpc>
            </a:pPr>
            <a:r>
              <a:rPr lang="en-US" sz="970" b="1" spc="26">
                <a:solidFill>
                  <a:srgbClr val="006F74"/>
                </a:solidFill>
                <a:latin typeface="Montserrat Bold" panose="00000800000000000000"/>
                <a:ea typeface="Montserrat Bold" panose="00000800000000000000"/>
                <a:cs typeface="Montserrat Bold" panose="00000800000000000000"/>
                <a:sym typeface="Montserrat Bold" panose="00000800000000000000"/>
              </a:rPr>
              <a:t>SECOND MILESTONE</a:t>
            </a:r>
          </a:p>
        </p:txBody>
      </p:sp>
      <p:sp>
        <p:nvSpPr>
          <p:cNvPr id="43" name="TextBox 43"/>
          <p:cNvSpPr txBox="1"/>
          <p:nvPr/>
        </p:nvSpPr>
        <p:spPr>
          <a:xfrm>
            <a:off x="753723" y="4434973"/>
            <a:ext cx="1676124" cy="261699"/>
          </a:xfrm>
          <a:prstGeom prst="rect">
            <a:avLst/>
          </a:prstGeom>
        </p:spPr>
        <p:txBody>
          <a:bodyPr lIns="0" tIns="0" rIns="0" bIns="0" rtlCol="0" anchor="t">
            <a:spAutoFit/>
          </a:bodyPr>
          <a:lstStyle/>
          <a:p>
            <a:pPr algn="ctr">
              <a:lnSpc>
                <a:spcPts val="1955"/>
              </a:lnSpc>
            </a:pPr>
            <a:r>
              <a:rPr lang="en-US" sz="1530" b="1">
                <a:solidFill>
                  <a:srgbClr val="000000"/>
                </a:solidFill>
                <a:latin typeface="Montserrat Bold" panose="00000800000000000000"/>
                <a:ea typeface="Montserrat Bold" panose="00000800000000000000"/>
                <a:cs typeface="Montserrat Bold" panose="00000800000000000000"/>
                <a:sym typeface="Montserrat Bold" panose="00000800000000000000"/>
              </a:rPr>
              <a:t>Research</a:t>
            </a:r>
          </a:p>
        </p:txBody>
      </p:sp>
      <p:sp>
        <p:nvSpPr>
          <p:cNvPr id="44" name="TextBox 44"/>
          <p:cNvSpPr txBox="1"/>
          <p:nvPr/>
        </p:nvSpPr>
        <p:spPr>
          <a:xfrm>
            <a:off x="753723" y="7855353"/>
            <a:ext cx="1676124" cy="320754"/>
          </a:xfrm>
          <a:prstGeom prst="rect">
            <a:avLst/>
          </a:prstGeom>
        </p:spPr>
        <p:txBody>
          <a:bodyPr lIns="0" tIns="0" rIns="0" bIns="0" rtlCol="0" anchor="t">
            <a:spAutoFit/>
          </a:bodyPr>
          <a:lstStyle/>
          <a:p>
            <a:pPr algn="ctr">
              <a:lnSpc>
                <a:spcPts val="2375"/>
              </a:lnSpc>
            </a:pPr>
            <a:r>
              <a:rPr lang="en-US" sz="1855" b="1">
                <a:solidFill>
                  <a:srgbClr val="521DF1"/>
                </a:solidFill>
                <a:latin typeface="Montserrat Bold" panose="00000800000000000000"/>
                <a:ea typeface="Montserrat Bold" panose="00000800000000000000"/>
                <a:cs typeface="Montserrat Bold" panose="00000800000000000000"/>
                <a:sym typeface="Montserrat Bold" panose="00000800000000000000"/>
              </a:rPr>
              <a:t>september</a:t>
            </a:r>
          </a:p>
        </p:txBody>
      </p:sp>
      <p:sp>
        <p:nvSpPr>
          <p:cNvPr id="45" name="TextBox 45"/>
          <p:cNvSpPr txBox="1"/>
          <p:nvPr/>
        </p:nvSpPr>
        <p:spPr>
          <a:xfrm>
            <a:off x="3263617" y="4434973"/>
            <a:ext cx="1676124" cy="261699"/>
          </a:xfrm>
          <a:prstGeom prst="rect">
            <a:avLst/>
          </a:prstGeom>
        </p:spPr>
        <p:txBody>
          <a:bodyPr lIns="0" tIns="0" rIns="0" bIns="0" rtlCol="0" anchor="t">
            <a:spAutoFit/>
          </a:bodyPr>
          <a:lstStyle/>
          <a:p>
            <a:pPr algn="ctr">
              <a:lnSpc>
                <a:spcPts val="1955"/>
              </a:lnSpc>
            </a:pPr>
            <a:r>
              <a:rPr lang="en-US" sz="1530" b="1">
                <a:solidFill>
                  <a:srgbClr val="000000"/>
                </a:solidFill>
                <a:latin typeface="Montserrat Bold" panose="00000800000000000000"/>
                <a:ea typeface="Montserrat Bold" panose="00000800000000000000"/>
                <a:cs typeface="Montserrat Bold" panose="00000800000000000000"/>
                <a:sym typeface="Montserrat Bold" panose="00000800000000000000"/>
              </a:rPr>
              <a:t>Software</a:t>
            </a:r>
          </a:p>
        </p:txBody>
      </p:sp>
      <p:sp>
        <p:nvSpPr>
          <p:cNvPr id="46" name="TextBox 46"/>
          <p:cNvSpPr txBox="1"/>
          <p:nvPr/>
        </p:nvSpPr>
        <p:spPr>
          <a:xfrm>
            <a:off x="3263617" y="7855353"/>
            <a:ext cx="1676124" cy="320754"/>
          </a:xfrm>
          <a:prstGeom prst="rect">
            <a:avLst/>
          </a:prstGeom>
        </p:spPr>
        <p:txBody>
          <a:bodyPr lIns="0" tIns="0" rIns="0" bIns="0" rtlCol="0" anchor="t">
            <a:spAutoFit/>
          </a:bodyPr>
          <a:lstStyle/>
          <a:p>
            <a:pPr algn="ctr">
              <a:lnSpc>
                <a:spcPts val="2375"/>
              </a:lnSpc>
            </a:pPr>
            <a:r>
              <a:rPr lang="en-US" sz="1855" b="1">
                <a:solidFill>
                  <a:srgbClr val="03949B"/>
                </a:solidFill>
                <a:latin typeface="Montserrat Bold" panose="00000800000000000000"/>
                <a:ea typeface="Montserrat Bold" panose="00000800000000000000"/>
                <a:cs typeface="Montserrat Bold" panose="00000800000000000000"/>
                <a:sym typeface="Montserrat Bold" panose="00000800000000000000"/>
              </a:rPr>
              <a:t>october</a:t>
            </a:r>
          </a:p>
        </p:txBody>
      </p:sp>
      <p:sp>
        <p:nvSpPr>
          <p:cNvPr id="47" name="TextBox 47"/>
          <p:cNvSpPr txBox="1"/>
          <p:nvPr/>
        </p:nvSpPr>
        <p:spPr>
          <a:xfrm>
            <a:off x="5874487" y="4208850"/>
            <a:ext cx="1474175" cy="203635"/>
          </a:xfrm>
          <a:prstGeom prst="rect">
            <a:avLst/>
          </a:prstGeom>
        </p:spPr>
        <p:txBody>
          <a:bodyPr lIns="0" tIns="0" rIns="0" bIns="0" rtlCol="0" anchor="t">
            <a:spAutoFit/>
          </a:bodyPr>
          <a:lstStyle/>
          <a:p>
            <a:pPr algn="ctr">
              <a:lnSpc>
                <a:spcPts val="1485"/>
              </a:lnSpc>
            </a:pPr>
            <a:r>
              <a:rPr lang="en-US" sz="970" b="1" spc="26">
                <a:solidFill>
                  <a:srgbClr val="3D6B02"/>
                </a:solidFill>
                <a:latin typeface="Montserrat Bold" panose="00000800000000000000"/>
                <a:ea typeface="Montserrat Bold" panose="00000800000000000000"/>
                <a:cs typeface="Montserrat Bold" panose="00000800000000000000"/>
                <a:sym typeface="Montserrat Bold" panose="00000800000000000000"/>
              </a:rPr>
              <a:t>THIRD MILESTONE</a:t>
            </a:r>
          </a:p>
        </p:txBody>
      </p:sp>
      <p:sp>
        <p:nvSpPr>
          <p:cNvPr id="48" name="TextBox 48"/>
          <p:cNvSpPr txBox="1"/>
          <p:nvPr/>
        </p:nvSpPr>
        <p:spPr>
          <a:xfrm>
            <a:off x="5773503" y="4434973"/>
            <a:ext cx="1676124" cy="261699"/>
          </a:xfrm>
          <a:prstGeom prst="rect">
            <a:avLst/>
          </a:prstGeom>
        </p:spPr>
        <p:txBody>
          <a:bodyPr lIns="0" tIns="0" rIns="0" bIns="0" rtlCol="0" anchor="t">
            <a:spAutoFit/>
          </a:bodyPr>
          <a:lstStyle/>
          <a:p>
            <a:pPr algn="ctr">
              <a:lnSpc>
                <a:spcPts val="1955"/>
              </a:lnSpc>
            </a:pPr>
            <a:r>
              <a:rPr lang="en-US" sz="1530" b="1">
                <a:solidFill>
                  <a:srgbClr val="000000"/>
                </a:solidFill>
                <a:latin typeface="Montserrat Bold" panose="00000800000000000000"/>
                <a:ea typeface="Montserrat Bold" panose="00000800000000000000"/>
                <a:cs typeface="Montserrat Bold" panose="00000800000000000000"/>
                <a:sym typeface="Montserrat Bold" panose="00000800000000000000"/>
              </a:rPr>
              <a:t>Algorithm</a:t>
            </a:r>
          </a:p>
        </p:txBody>
      </p:sp>
      <p:sp>
        <p:nvSpPr>
          <p:cNvPr id="49" name="TextBox 49"/>
          <p:cNvSpPr txBox="1"/>
          <p:nvPr/>
        </p:nvSpPr>
        <p:spPr>
          <a:xfrm>
            <a:off x="5773503" y="7855353"/>
            <a:ext cx="1676124" cy="320754"/>
          </a:xfrm>
          <a:prstGeom prst="rect">
            <a:avLst/>
          </a:prstGeom>
        </p:spPr>
        <p:txBody>
          <a:bodyPr lIns="0" tIns="0" rIns="0" bIns="0" rtlCol="0" anchor="t">
            <a:spAutoFit/>
          </a:bodyPr>
          <a:lstStyle/>
          <a:p>
            <a:pPr algn="ctr">
              <a:lnSpc>
                <a:spcPts val="2375"/>
              </a:lnSpc>
            </a:pPr>
            <a:r>
              <a:rPr lang="en-US" sz="1855" b="1">
                <a:solidFill>
                  <a:srgbClr val="5C9B0A"/>
                </a:solidFill>
                <a:latin typeface="Montserrat Bold" panose="00000800000000000000"/>
                <a:ea typeface="Montserrat Bold" panose="00000800000000000000"/>
                <a:cs typeface="Montserrat Bold" panose="00000800000000000000"/>
                <a:sym typeface="Montserrat Bold" panose="00000800000000000000"/>
              </a:rPr>
              <a:t>november</a:t>
            </a:r>
          </a:p>
        </p:txBody>
      </p:sp>
      <p:sp>
        <p:nvSpPr>
          <p:cNvPr id="50" name="TextBox 50"/>
          <p:cNvSpPr txBox="1"/>
          <p:nvPr/>
        </p:nvSpPr>
        <p:spPr>
          <a:xfrm>
            <a:off x="8384372" y="4208850"/>
            <a:ext cx="1474175" cy="203635"/>
          </a:xfrm>
          <a:prstGeom prst="rect">
            <a:avLst/>
          </a:prstGeom>
        </p:spPr>
        <p:txBody>
          <a:bodyPr lIns="0" tIns="0" rIns="0" bIns="0" rtlCol="0" anchor="t">
            <a:spAutoFit/>
          </a:bodyPr>
          <a:lstStyle/>
          <a:p>
            <a:pPr algn="ctr">
              <a:lnSpc>
                <a:spcPts val="1485"/>
              </a:lnSpc>
            </a:pPr>
            <a:r>
              <a:rPr lang="en-US" sz="970" b="1" spc="26">
                <a:solidFill>
                  <a:srgbClr val="A48701"/>
                </a:solidFill>
                <a:latin typeface="Montserrat Bold" panose="00000800000000000000"/>
                <a:ea typeface="Montserrat Bold" panose="00000800000000000000"/>
                <a:cs typeface="Montserrat Bold" panose="00000800000000000000"/>
                <a:sym typeface="Montserrat Bold" panose="00000800000000000000"/>
              </a:rPr>
              <a:t>FOURTH MILESTONE</a:t>
            </a:r>
          </a:p>
        </p:txBody>
      </p:sp>
      <p:sp>
        <p:nvSpPr>
          <p:cNvPr id="51" name="TextBox 51"/>
          <p:cNvSpPr txBox="1"/>
          <p:nvPr/>
        </p:nvSpPr>
        <p:spPr>
          <a:xfrm>
            <a:off x="8283397" y="4434973"/>
            <a:ext cx="1676124" cy="261699"/>
          </a:xfrm>
          <a:prstGeom prst="rect">
            <a:avLst/>
          </a:prstGeom>
        </p:spPr>
        <p:txBody>
          <a:bodyPr lIns="0" tIns="0" rIns="0" bIns="0" rtlCol="0" anchor="t">
            <a:spAutoFit/>
          </a:bodyPr>
          <a:lstStyle/>
          <a:p>
            <a:pPr algn="ctr">
              <a:lnSpc>
                <a:spcPts val="1955"/>
              </a:lnSpc>
            </a:pPr>
            <a:r>
              <a:rPr lang="en-US" sz="1530" b="1">
                <a:solidFill>
                  <a:srgbClr val="000000"/>
                </a:solidFill>
                <a:latin typeface="Montserrat Bold" panose="00000800000000000000"/>
                <a:ea typeface="Montserrat Bold" panose="00000800000000000000"/>
                <a:cs typeface="Montserrat Bold" panose="00000800000000000000"/>
                <a:sym typeface="Montserrat Bold" panose="00000800000000000000"/>
              </a:rPr>
              <a:t> Simulation</a:t>
            </a:r>
          </a:p>
        </p:txBody>
      </p:sp>
      <p:sp>
        <p:nvSpPr>
          <p:cNvPr id="52" name="TextBox 52"/>
          <p:cNvSpPr txBox="1"/>
          <p:nvPr/>
        </p:nvSpPr>
        <p:spPr>
          <a:xfrm>
            <a:off x="8283397" y="7855353"/>
            <a:ext cx="1676124" cy="320754"/>
          </a:xfrm>
          <a:prstGeom prst="rect">
            <a:avLst/>
          </a:prstGeom>
        </p:spPr>
        <p:txBody>
          <a:bodyPr lIns="0" tIns="0" rIns="0" bIns="0" rtlCol="0" anchor="t">
            <a:spAutoFit/>
          </a:bodyPr>
          <a:lstStyle/>
          <a:p>
            <a:pPr algn="ctr">
              <a:lnSpc>
                <a:spcPts val="2375"/>
              </a:lnSpc>
            </a:pPr>
            <a:r>
              <a:rPr lang="en-US" sz="1855" b="1">
                <a:solidFill>
                  <a:srgbClr val="A48701"/>
                </a:solidFill>
                <a:latin typeface="Montserrat Bold" panose="00000800000000000000"/>
                <a:ea typeface="Montserrat Bold" panose="00000800000000000000"/>
                <a:cs typeface="Montserrat Bold" panose="00000800000000000000"/>
                <a:sym typeface="Montserrat Bold" panose="00000800000000000000"/>
              </a:rPr>
              <a:t>december</a:t>
            </a:r>
          </a:p>
        </p:txBody>
      </p:sp>
      <p:sp>
        <p:nvSpPr>
          <p:cNvPr id="53" name="TextBox 53"/>
          <p:cNvSpPr txBox="1"/>
          <p:nvPr/>
        </p:nvSpPr>
        <p:spPr>
          <a:xfrm>
            <a:off x="10894266" y="4208850"/>
            <a:ext cx="1474175" cy="203635"/>
          </a:xfrm>
          <a:prstGeom prst="rect">
            <a:avLst/>
          </a:prstGeom>
        </p:spPr>
        <p:txBody>
          <a:bodyPr lIns="0" tIns="0" rIns="0" bIns="0" rtlCol="0" anchor="t">
            <a:spAutoFit/>
          </a:bodyPr>
          <a:lstStyle/>
          <a:p>
            <a:pPr algn="ctr">
              <a:lnSpc>
                <a:spcPts val="1485"/>
              </a:lnSpc>
            </a:pPr>
            <a:r>
              <a:rPr lang="en-US" sz="970" b="1" spc="26">
                <a:solidFill>
                  <a:srgbClr val="D15414"/>
                </a:solidFill>
                <a:latin typeface="Montserrat Bold" panose="00000800000000000000"/>
                <a:ea typeface="Montserrat Bold" panose="00000800000000000000"/>
                <a:cs typeface="Montserrat Bold" panose="00000800000000000000"/>
                <a:sym typeface="Montserrat Bold" panose="00000800000000000000"/>
              </a:rPr>
              <a:t>FIFTH MILESTONE</a:t>
            </a:r>
          </a:p>
        </p:txBody>
      </p:sp>
      <p:sp>
        <p:nvSpPr>
          <p:cNvPr id="54" name="TextBox 54"/>
          <p:cNvSpPr txBox="1"/>
          <p:nvPr/>
        </p:nvSpPr>
        <p:spPr>
          <a:xfrm>
            <a:off x="10793292" y="4434973"/>
            <a:ext cx="1676124" cy="261699"/>
          </a:xfrm>
          <a:prstGeom prst="rect">
            <a:avLst/>
          </a:prstGeom>
        </p:spPr>
        <p:txBody>
          <a:bodyPr lIns="0" tIns="0" rIns="0" bIns="0" rtlCol="0" anchor="t">
            <a:spAutoFit/>
          </a:bodyPr>
          <a:lstStyle/>
          <a:p>
            <a:pPr algn="ctr">
              <a:lnSpc>
                <a:spcPts val="1955"/>
              </a:lnSpc>
            </a:pPr>
            <a:r>
              <a:rPr lang="en-US" sz="1530" b="1">
                <a:solidFill>
                  <a:srgbClr val="000000"/>
                </a:solidFill>
                <a:latin typeface="Montserrat Bold" panose="00000800000000000000"/>
                <a:ea typeface="Montserrat Bold" panose="00000800000000000000"/>
                <a:cs typeface="Montserrat Bold" panose="00000800000000000000"/>
                <a:sym typeface="Montserrat Bold" panose="00000800000000000000"/>
              </a:rPr>
              <a:t>Hardware</a:t>
            </a:r>
          </a:p>
        </p:txBody>
      </p:sp>
      <p:sp>
        <p:nvSpPr>
          <p:cNvPr id="55" name="TextBox 55"/>
          <p:cNvSpPr txBox="1"/>
          <p:nvPr/>
        </p:nvSpPr>
        <p:spPr>
          <a:xfrm>
            <a:off x="10536202" y="7855353"/>
            <a:ext cx="2190304" cy="295402"/>
          </a:xfrm>
          <a:prstGeom prst="rect">
            <a:avLst/>
          </a:prstGeom>
        </p:spPr>
        <p:txBody>
          <a:bodyPr lIns="0" tIns="0" rIns="0" bIns="0" rtlCol="0" anchor="t">
            <a:spAutoFit/>
          </a:bodyPr>
          <a:lstStyle/>
          <a:p>
            <a:pPr algn="ctr">
              <a:lnSpc>
                <a:spcPts val="2375"/>
              </a:lnSpc>
            </a:pPr>
            <a:r>
              <a:rPr lang="en-US" sz="1855" b="1">
                <a:solidFill>
                  <a:srgbClr val="D15414"/>
                </a:solidFill>
                <a:latin typeface="Montserrat Bold" panose="00000800000000000000"/>
                <a:ea typeface="Montserrat Bold" panose="00000800000000000000"/>
                <a:cs typeface="Montserrat Bold" panose="00000800000000000000"/>
                <a:sym typeface="Montserrat Bold" panose="00000800000000000000"/>
              </a:rPr>
              <a:t>January/Feburary</a:t>
            </a:r>
          </a:p>
        </p:txBody>
      </p:sp>
      <p:sp>
        <p:nvSpPr>
          <p:cNvPr id="56" name="TextBox 56"/>
          <p:cNvSpPr txBox="1"/>
          <p:nvPr/>
        </p:nvSpPr>
        <p:spPr>
          <a:xfrm>
            <a:off x="13404152" y="4208850"/>
            <a:ext cx="1474175" cy="203635"/>
          </a:xfrm>
          <a:prstGeom prst="rect">
            <a:avLst/>
          </a:prstGeom>
        </p:spPr>
        <p:txBody>
          <a:bodyPr lIns="0" tIns="0" rIns="0" bIns="0" rtlCol="0" anchor="t">
            <a:spAutoFit/>
          </a:bodyPr>
          <a:lstStyle/>
          <a:p>
            <a:pPr algn="ctr">
              <a:lnSpc>
                <a:spcPts val="1485"/>
              </a:lnSpc>
            </a:pPr>
            <a:r>
              <a:rPr lang="en-US" sz="970" b="1" spc="26">
                <a:solidFill>
                  <a:srgbClr val="F0419F"/>
                </a:solidFill>
                <a:latin typeface="Montserrat Bold" panose="00000800000000000000"/>
                <a:ea typeface="Montserrat Bold" panose="00000800000000000000"/>
                <a:cs typeface="Montserrat Bold" panose="00000800000000000000"/>
                <a:sym typeface="Montserrat Bold" panose="00000800000000000000"/>
              </a:rPr>
              <a:t>SIXTH MILESTONE</a:t>
            </a:r>
          </a:p>
        </p:txBody>
      </p:sp>
      <p:sp>
        <p:nvSpPr>
          <p:cNvPr id="57" name="TextBox 57"/>
          <p:cNvSpPr txBox="1"/>
          <p:nvPr/>
        </p:nvSpPr>
        <p:spPr>
          <a:xfrm>
            <a:off x="13139680" y="4449594"/>
            <a:ext cx="2003117" cy="261699"/>
          </a:xfrm>
          <a:prstGeom prst="rect">
            <a:avLst/>
          </a:prstGeom>
        </p:spPr>
        <p:txBody>
          <a:bodyPr lIns="0" tIns="0" rIns="0" bIns="0" rtlCol="0" anchor="t">
            <a:spAutoFit/>
          </a:bodyPr>
          <a:lstStyle/>
          <a:p>
            <a:pPr algn="ctr">
              <a:lnSpc>
                <a:spcPts val="1955"/>
              </a:lnSpc>
            </a:pPr>
            <a:r>
              <a:rPr lang="en-US" sz="1530" b="1">
                <a:solidFill>
                  <a:srgbClr val="000000"/>
                </a:solidFill>
                <a:latin typeface="Montserrat Bold" panose="00000800000000000000"/>
                <a:ea typeface="Montserrat Bold" panose="00000800000000000000"/>
                <a:cs typeface="Montserrat Bold" panose="00000800000000000000"/>
                <a:sym typeface="Montserrat Bold" panose="00000800000000000000"/>
              </a:rPr>
              <a:t> Implementation</a:t>
            </a:r>
          </a:p>
        </p:txBody>
      </p:sp>
      <p:sp>
        <p:nvSpPr>
          <p:cNvPr id="58" name="TextBox 58"/>
          <p:cNvSpPr txBox="1"/>
          <p:nvPr/>
        </p:nvSpPr>
        <p:spPr>
          <a:xfrm>
            <a:off x="13414967" y="7855353"/>
            <a:ext cx="1452562" cy="295402"/>
          </a:xfrm>
          <a:prstGeom prst="rect">
            <a:avLst/>
          </a:prstGeom>
        </p:spPr>
        <p:txBody>
          <a:bodyPr lIns="0" tIns="0" rIns="0" bIns="0" rtlCol="0" anchor="t">
            <a:spAutoFit/>
          </a:bodyPr>
          <a:lstStyle/>
          <a:p>
            <a:pPr algn="ctr">
              <a:lnSpc>
                <a:spcPts val="2375"/>
              </a:lnSpc>
            </a:pPr>
            <a:r>
              <a:rPr lang="en-US" sz="1855" b="1">
                <a:solidFill>
                  <a:srgbClr val="CF5AA4"/>
                </a:solidFill>
                <a:latin typeface="Montserrat Bold" panose="00000800000000000000"/>
                <a:ea typeface="Montserrat Bold" panose="00000800000000000000"/>
                <a:cs typeface="Montserrat Bold" panose="00000800000000000000"/>
                <a:sym typeface="Montserrat Bold" panose="00000800000000000000"/>
              </a:rPr>
              <a:t>March/April</a:t>
            </a:r>
          </a:p>
        </p:txBody>
      </p:sp>
      <p:sp>
        <p:nvSpPr>
          <p:cNvPr id="59" name="TextBox 59"/>
          <p:cNvSpPr txBox="1"/>
          <p:nvPr/>
        </p:nvSpPr>
        <p:spPr>
          <a:xfrm>
            <a:off x="15914046" y="4208850"/>
            <a:ext cx="1474175" cy="203635"/>
          </a:xfrm>
          <a:prstGeom prst="rect">
            <a:avLst/>
          </a:prstGeom>
        </p:spPr>
        <p:txBody>
          <a:bodyPr lIns="0" tIns="0" rIns="0" bIns="0" rtlCol="0" anchor="t">
            <a:spAutoFit/>
          </a:bodyPr>
          <a:lstStyle/>
          <a:p>
            <a:pPr algn="ctr">
              <a:lnSpc>
                <a:spcPts val="1485"/>
              </a:lnSpc>
            </a:pPr>
            <a:r>
              <a:rPr lang="en-US" sz="970" b="1" spc="26">
                <a:solidFill>
                  <a:srgbClr val="BC63DF"/>
                </a:solidFill>
                <a:latin typeface="Montserrat Bold" panose="00000800000000000000"/>
                <a:ea typeface="Montserrat Bold" panose="00000800000000000000"/>
                <a:cs typeface="Montserrat Bold" panose="00000800000000000000"/>
                <a:sym typeface="Montserrat Bold" panose="00000800000000000000"/>
              </a:rPr>
              <a:t>SEVENTH MILESTONE</a:t>
            </a:r>
          </a:p>
        </p:txBody>
      </p:sp>
      <p:sp>
        <p:nvSpPr>
          <p:cNvPr id="60" name="TextBox 60"/>
          <p:cNvSpPr txBox="1"/>
          <p:nvPr/>
        </p:nvSpPr>
        <p:spPr>
          <a:xfrm>
            <a:off x="16055375" y="4434973"/>
            <a:ext cx="1191518" cy="251155"/>
          </a:xfrm>
          <a:prstGeom prst="rect">
            <a:avLst/>
          </a:prstGeom>
        </p:spPr>
        <p:txBody>
          <a:bodyPr lIns="0" tIns="0" rIns="0" bIns="0" rtlCol="0" anchor="t">
            <a:spAutoFit/>
          </a:bodyPr>
          <a:lstStyle/>
          <a:p>
            <a:pPr algn="ctr">
              <a:lnSpc>
                <a:spcPts val="1955"/>
              </a:lnSpc>
            </a:pPr>
            <a:r>
              <a:rPr lang="en-US" sz="1530" b="1">
                <a:solidFill>
                  <a:srgbClr val="000000"/>
                </a:solidFill>
                <a:latin typeface="Montserrat Bold" panose="00000800000000000000"/>
                <a:ea typeface="Montserrat Bold" panose="00000800000000000000"/>
                <a:cs typeface="Montserrat Bold" panose="00000800000000000000"/>
                <a:sym typeface="Montserrat Bold" panose="00000800000000000000"/>
              </a:rPr>
              <a:t>Completion</a:t>
            </a:r>
          </a:p>
        </p:txBody>
      </p:sp>
      <p:sp>
        <p:nvSpPr>
          <p:cNvPr id="61" name="TextBox 61"/>
          <p:cNvSpPr txBox="1"/>
          <p:nvPr/>
        </p:nvSpPr>
        <p:spPr>
          <a:xfrm>
            <a:off x="16049049" y="7855353"/>
            <a:ext cx="1204168" cy="295402"/>
          </a:xfrm>
          <a:prstGeom prst="rect">
            <a:avLst/>
          </a:prstGeom>
        </p:spPr>
        <p:txBody>
          <a:bodyPr lIns="0" tIns="0" rIns="0" bIns="0" rtlCol="0" anchor="t">
            <a:spAutoFit/>
          </a:bodyPr>
          <a:lstStyle/>
          <a:p>
            <a:pPr algn="ctr">
              <a:lnSpc>
                <a:spcPts val="2375"/>
              </a:lnSpc>
            </a:pPr>
            <a:r>
              <a:rPr lang="en-US" sz="1855" b="1">
                <a:solidFill>
                  <a:srgbClr val="BC63DF"/>
                </a:solidFill>
                <a:latin typeface="Montserrat Bold" panose="00000800000000000000"/>
                <a:ea typeface="Montserrat Bold" panose="00000800000000000000"/>
                <a:cs typeface="Montserrat Bold" panose="00000800000000000000"/>
                <a:sym typeface="Montserrat Bold" panose="00000800000000000000"/>
              </a:rPr>
              <a:t>May/June</a:t>
            </a:r>
          </a:p>
        </p:txBody>
      </p:sp>
      <p:sp>
        <p:nvSpPr>
          <p:cNvPr id="62" name="TextBox 62"/>
          <p:cNvSpPr txBox="1"/>
          <p:nvPr/>
        </p:nvSpPr>
        <p:spPr>
          <a:xfrm>
            <a:off x="5773503" y="4896745"/>
            <a:ext cx="1676124" cy="1345168"/>
          </a:xfrm>
          <a:prstGeom prst="rect">
            <a:avLst/>
          </a:prstGeom>
        </p:spPr>
        <p:txBody>
          <a:bodyPr lIns="0" tIns="0" rIns="0" bIns="0" rtlCol="0" anchor="t">
            <a:spAutoFit/>
          </a:bodyPr>
          <a:lstStyle/>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Develop path planning algorithm for mobile robots.</a:t>
            </a:r>
          </a:p>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 Test algorithm in static and dynamic environments</a:t>
            </a:r>
          </a:p>
        </p:txBody>
      </p:sp>
      <p:sp>
        <p:nvSpPr>
          <p:cNvPr id="63" name="TextBox 63"/>
          <p:cNvSpPr txBox="1"/>
          <p:nvPr/>
        </p:nvSpPr>
        <p:spPr>
          <a:xfrm>
            <a:off x="8283397" y="4896745"/>
            <a:ext cx="1676124" cy="1126836"/>
          </a:xfrm>
          <a:prstGeom prst="rect">
            <a:avLst/>
          </a:prstGeom>
        </p:spPr>
        <p:txBody>
          <a:bodyPr lIns="0" tIns="0" rIns="0" bIns="0" rtlCol="0" anchor="t">
            <a:spAutoFit/>
          </a:bodyPr>
          <a:lstStyle/>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Implement algorithm in simulated unknown environments.</a:t>
            </a:r>
          </a:p>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 Analyze and validate results using ROS2.</a:t>
            </a:r>
          </a:p>
        </p:txBody>
      </p:sp>
      <p:sp>
        <p:nvSpPr>
          <p:cNvPr id="64" name="TextBox 64"/>
          <p:cNvSpPr txBox="1"/>
          <p:nvPr/>
        </p:nvSpPr>
        <p:spPr>
          <a:xfrm>
            <a:off x="10793292" y="4896745"/>
            <a:ext cx="1676124" cy="1345168"/>
          </a:xfrm>
          <a:prstGeom prst="rect">
            <a:avLst/>
          </a:prstGeom>
        </p:spPr>
        <p:txBody>
          <a:bodyPr lIns="0" tIns="0" rIns="0" bIns="0" rtlCol="0" anchor="t">
            <a:spAutoFit/>
          </a:bodyPr>
          <a:lstStyle/>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Finalize hardware components and specifications.</a:t>
            </a:r>
          </a:p>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 Purchase sensors, controller, motors, and chassis.</a:t>
            </a:r>
          </a:p>
        </p:txBody>
      </p:sp>
      <p:sp>
        <p:nvSpPr>
          <p:cNvPr id="65" name="TextBox 65"/>
          <p:cNvSpPr txBox="1"/>
          <p:nvPr/>
        </p:nvSpPr>
        <p:spPr>
          <a:xfrm>
            <a:off x="13303177" y="4896745"/>
            <a:ext cx="1676124" cy="1345168"/>
          </a:xfrm>
          <a:prstGeom prst="rect">
            <a:avLst/>
          </a:prstGeom>
        </p:spPr>
        <p:txBody>
          <a:bodyPr lIns="0" tIns="0" rIns="0" bIns="0" rtlCol="0" anchor="t">
            <a:spAutoFit/>
          </a:bodyPr>
          <a:lstStyle/>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Assemble mobile robot hardware.</a:t>
            </a:r>
          </a:p>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 Integrate software with hardware and implement path planning.</a:t>
            </a:r>
          </a:p>
        </p:txBody>
      </p:sp>
      <p:sp>
        <p:nvSpPr>
          <p:cNvPr id="66" name="TextBox 66"/>
          <p:cNvSpPr txBox="1"/>
          <p:nvPr/>
        </p:nvSpPr>
        <p:spPr>
          <a:xfrm>
            <a:off x="15813072" y="4896745"/>
            <a:ext cx="1676124" cy="1126836"/>
          </a:xfrm>
          <a:prstGeom prst="rect">
            <a:avLst/>
          </a:prstGeom>
        </p:spPr>
        <p:txBody>
          <a:bodyPr lIns="0" tIns="0" rIns="0" bIns="0" rtlCol="0" anchor="t">
            <a:spAutoFit/>
          </a:bodyPr>
          <a:lstStyle/>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Test robot in real unknown environments.</a:t>
            </a:r>
          </a:p>
          <a:p>
            <a:pPr algn="ctr">
              <a:lnSpc>
                <a:spcPts val="1765"/>
              </a:lnSpc>
            </a:pPr>
            <a:r>
              <a:rPr lang="en-US" sz="1075">
                <a:solidFill>
                  <a:srgbClr val="000000"/>
                </a:solidFill>
                <a:latin typeface="Montserrat" panose="00000500000000000000"/>
                <a:ea typeface="Montserrat" panose="00000500000000000000"/>
                <a:cs typeface="Montserrat" panose="00000500000000000000"/>
                <a:sym typeface="Montserrat" panose="00000500000000000000"/>
              </a:rPr>
              <a:t> Evaluate performance and complete final documentation.</a:t>
            </a:r>
          </a:p>
        </p:txBody>
      </p:sp>
      <p:sp>
        <p:nvSpPr>
          <p:cNvPr id="67" name="TextBox 67"/>
          <p:cNvSpPr txBox="1"/>
          <p:nvPr/>
        </p:nvSpPr>
        <p:spPr>
          <a:xfrm>
            <a:off x="4839433" y="881034"/>
            <a:ext cx="8785527" cy="814264"/>
          </a:xfrm>
          <a:prstGeom prst="rect">
            <a:avLst/>
          </a:prstGeom>
        </p:spPr>
        <p:txBody>
          <a:bodyPr lIns="0" tIns="0" rIns="0" bIns="0" rtlCol="0" anchor="t">
            <a:spAutoFit/>
          </a:bodyPr>
          <a:lstStyle/>
          <a:p>
            <a:pPr algn="ctr">
              <a:lnSpc>
                <a:spcPts val="6310"/>
              </a:lnSpc>
            </a:pPr>
            <a:r>
              <a:rPr lang="en-US" sz="5350" b="1">
                <a:solidFill>
                  <a:srgbClr val="000000"/>
                </a:solidFill>
                <a:latin typeface="Montserrat Bold" panose="00000800000000000000"/>
                <a:ea typeface="Montserrat Bold" panose="00000800000000000000"/>
                <a:cs typeface="Montserrat Bold" panose="00000800000000000000"/>
                <a:sym typeface="Montserrat Bold" panose="00000800000000000000"/>
              </a:rPr>
              <a:t>Monthly Timeline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74647" y="4634865"/>
            <a:ext cx="2828001" cy="2815409"/>
            <a:chOff x="0" y="0"/>
            <a:chExt cx="3770668" cy="3753879"/>
          </a:xfrm>
        </p:grpSpPr>
        <p:sp>
          <p:nvSpPr>
            <p:cNvPr id="3" name="Freeform 3"/>
            <p:cNvSpPr/>
            <p:nvPr/>
          </p:nvSpPr>
          <p:spPr>
            <a:xfrm>
              <a:off x="-32" y="-19"/>
              <a:ext cx="3770693" cy="3753778"/>
            </a:xfrm>
            <a:custGeom>
              <a:avLst/>
              <a:gdLst/>
              <a:ahLst/>
              <a:cxnLst/>
              <a:rect l="l" t="t" r="r" b="b"/>
              <a:pathLst>
                <a:path w="3770693" h="3753778">
                  <a:moveTo>
                    <a:pt x="1885347" y="19"/>
                  </a:moveTo>
                  <a:cubicBezTo>
                    <a:pt x="1212755" y="-3029"/>
                    <a:pt x="590074" y="354095"/>
                    <a:pt x="252889" y="936009"/>
                  </a:cubicBezTo>
                  <a:cubicBezTo>
                    <a:pt x="-84296" y="1517923"/>
                    <a:pt x="-84296" y="2235854"/>
                    <a:pt x="252889" y="2817768"/>
                  </a:cubicBezTo>
                  <a:cubicBezTo>
                    <a:pt x="590074" y="3399682"/>
                    <a:pt x="1212755" y="3756806"/>
                    <a:pt x="1885347" y="3753758"/>
                  </a:cubicBezTo>
                  <a:cubicBezTo>
                    <a:pt x="2557939" y="3756806"/>
                    <a:pt x="3180620" y="3399682"/>
                    <a:pt x="3517805" y="2817768"/>
                  </a:cubicBezTo>
                  <a:cubicBezTo>
                    <a:pt x="3854990" y="2235854"/>
                    <a:pt x="3854990" y="1517923"/>
                    <a:pt x="3517805" y="936009"/>
                  </a:cubicBezTo>
                  <a:cubicBezTo>
                    <a:pt x="3180620" y="354095"/>
                    <a:pt x="2557939" y="-3029"/>
                    <a:pt x="1885347" y="19"/>
                  </a:cubicBezTo>
                  <a:close/>
                </a:path>
              </a:pathLst>
            </a:custGeom>
            <a:blipFill>
              <a:blip r:embed="rId2"/>
              <a:stretch>
                <a:fillRect l="-24149" r="-24151" b="-3"/>
              </a:stretch>
            </a:blipFill>
          </p:spPr>
          <p:txBody>
            <a:bodyPr/>
            <a:lstStyle/>
            <a:p>
              <a:endParaRPr lang="en-US"/>
            </a:p>
          </p:txBody>
        </p:sp>
      </p:grpSp>
      <p:grpSp>
        <p:nvGrpSpPr>
          <p:cNvPr id="4" name="Group 4"/>
          <p:cNvGrpSpPr/>
          <p:nvPr/>
        </p:nvGrpSpPr>
        <p:grpSpPr>
          <a:xfrm>
            <a:off x="1954816" y="4608728"/>
            <a:ext cx="2867654" cy="2867644"/>
            <a:chOff x="0" y="0"/>
            <a:chExt cx="3823538" cy="3823526"/>
          </a:xfrm>
        </p:grpSpPr>
        <p:sp>
          <p:nvSpPr>
            <p:cNvPr id="5" name="Freeform 5"/>
            <p:cNvSpPr/>
            <p:nvPr/>
          </p:nvSpPr>
          <p:spPr>
            <a:xfrm>
              <a:off x="0" y="0"/>
              <a:ext cx="3823589" cy="3823589"/>
            </a:xfrm>
            <a:custGeom>
              <a:avLst/>
              <a:gdLst/>
              <a:ahLst/>
              <a:cxnLst/>
              <a:rect l="l" t="t" r="r" b="b"/>
              <a:pathLst>
                <a:path w="3823589" h="3823589">
                  <a:moveTo>
                    <a:pt x="1911731" y="3823589"/>
                  </a:moveTo>
                  <a:cubicBezTo>
                    <a:pt x="857631" y="3823589"/>
                    <a:pt x="0" y="2965958"/>
                    <a:pt x="0" y="1911731"/>
                  </a:cubicBezTo>
                  <a:cubicBezTo>
                    <a:pt x="0" y="857504"/>
                    <a:pt x="857631" y="0"/>
                    <a:pt x="1911731" y="0"/>
                  </a:cubicBezTo>
                  <a:cubicBezTo>
                    <a:pt x="2965831" y="0"/>
                    <a:pt x="3823589" y="857631"/>
                    <a:pt x="3823589" y="1911731"/>
                  </a:cubicBezTo>
                  <a:cubicBezTo>
                    <a:pt x="3823589" y="2965831"/>
                    <a:pt x="2965958" y="3823589"/>
                    <a:pt x="1911731" y="3823589"/>
                  </a:cubicBezTo>
                  <a:close/>
                  <a:moveTo>
                    <a:pt x="1911731" y="69723"/>
                  </a:moveTo>
                  <a:cubicBezTo>
                    <a:pt x="896112" y="69723"/>
                    <a:pt x="69723" y="896112"/>
                    <a:pt x="69723" y="1911731"/>
                  </a:cubicBezTo>
                  <a:cubicBezTo>
                    <a:pt x="69723" y="2927350"/>
                    <a:pt x="896112" y="3753866"/>
                    <a:pt x="1911731" y="3753866"/>
                  </a:cubicBezTo>
                  <a:cubicBezTo>
                    <a:pt x="2927350" y="3753866"/>
                    <a:pt x="3753866" y="2927477"/>
                    <a:pt x="3753866" y="1911858"/>
                  </a:cubicBezTo>
                  <a:cubicBezTo>
                    <a:pt x="3753866" y="896239"/>
                    <a:pt x="2927477" y="69723"/>
                    <a:pt x="1911731" y="69723"/>
                  </a:cubicBezTo>
                  <a:close/>
                </a:path>
              </a:pathLst>
            </a:custGeom>
            <a:solidFill>
              <a:srgbClr val="145DA0"/>
            </a:solidFill>
          </p:spPr>
          <p:txBody>
            <a:bodyPr/>
            <a:lstStyle/>
            <a:p>
              <a:endParaRPr lang="en-US"/>
            </a:p>
          </p:txBody>
        </p:sp>
      </p:grpSp>
      <p:sp>
        <p:nvSpPr>
          <p:cNvPr id="6" name="Freeform 6"/>
          <p:cNvSpPr/>
          <p:nvPr/>
        </p:nvSpPr>
        <p:spPr>
          <a:xfrm>
            <a:off x="-4534329" y="4596451"/>
            <a:ext cx="8285207" cy="8405908"/>
          </a:xfrm>
          <a:custGeom>
            <a:avLst/>
            <a:gdLst/>
            <a:ahLst/>
            <a:cxnLst/>
            <a:rect l="l" t="t" r="r" b="b"/>
            <a:pathLst>
              <a:path w="8285207" h="8405908">
                <a:moveTo>
                  <a:pt x="0" y="0"/>
                </a:moveTo>
                <a:lnTo>
                  <a:pt x="8285207" y="0"/>
                </a:lnTo>
                <a:lnTo>
                  <a:pt x="8285207" y="8405907"/>
                </a:lnTo>
                <a:lnTo>
                  <a:pt x="0" y="8405907"/>
                </a:lnTo>
                <a:lnTo>
                  <a:pt x="0" y="0"/>
                </a:lnTo>
                <a:close/>
              </a:path>
            </a:pathLst>
          </a:custGeom>
          <a:blipFill>
            <a:blip>
              <a:alphaModFix amt="20999"/>
              <a:extLst>
                <a:ext uri="{96DAC541-7B7A-43D3-8B79-37D633B846F1}">
                  <asvg:svgBlip xmlns:asvg="http://schemas.microsoft.com/office/drawing/2016/SVG/main" r:embed="rId3"/>
                </a:ext>
              </a:extLst>
            </a:blip>
            <a:stretch>
              <a:fillRect l="-38" r="-39"/>
            </a:stretch>
          </a:blipFill>
        </p:spPr>
        <p:txBody>
          <a:bodyPr/>
          <a:lstStyle/>
          <a:p>
            <a:endParaRPr lang="en-US"/>
          </a:p>
        </p:txBody>
      </p:sp>
      <p:sp>
        <p:nvSpPr>
          <p:cNvPr id="7" name="Freeform 7"/>
          <p:cNvSpPr/>
          <p:nvPr/>
        </p:nvSpPr>
        <p:spPr>
          <a:xfrm rot="-7910160">
            <a:off x="14555343" y="5780370"/>
            <a:ext cx="7465324" cy="7574080"/>
          </a:xfrm>
          <a:custGeom>
            <a:avLst/>
            <a:gdLst/>
            <a:ahLst/>
            <a:cxnLst/>
            <a:rect l="l" t="t" r="r" b="b"/>
            <a:pathLst>
              <a:path w="7465324" h="7574080">
                <a:moveTo>
                  <a:pt x="0" y="0"/>
                </a:moveTo>
                <a:lnTo>
                  <a:pt x="7465324" y="0"/>
                </a:lnTo>
                <a:lnTo>
                  <a:pt x="7465324" y="7574080"/>
                </a:lnTo>
                <a:lnTo>
                  <a:pt x="0" y="7574080"/>
                </a:lnTo>
                <a:lnTo>
                  <a:pt x="0" y="0"/>
                </a:lnTo>
                <a:close/>
              </a:path>
            </a:pathLst>
          </a:custGeom>
          <a:blipFill>
            <a:blip>
              <a:alphaModFix amt="20999"/>
              <a:extLst>
                <a:ext uri="{96DAC541-7B7A-43D3-8B79-37D633B846F1}">
                  <asvg:svgBlip xmlns:asvg="http://schemas.microsoft.com/office/drawing/2016/SVG/main" r:embed="rId3"/>
                </a:ext>
              </a:extLst>
            </a:blip>
            <a:stretch>
              <a:fillRect l="-27" r="-27"/>
            </a:stretch>
          </a:blipFill>
        </p:spPr>
        <p:txBody>
          <a:bodyPr/>
          <a:lstStyle/>
          <a:p>
            <a:endParaRPr lang="en-US"/>
          </a:p>
        </p:txBody>
      </p:sp>
      <p:grpSp>
        <p:nvGrpSpPr>
          <p:cNvPr id="8" name="Group 8"/>
          <p:cNvGrpSpPr/>
          <p:nvPr/>
        </p:nvGrpSpPr>
        <p:grpSpPr>
          <a:xfrm>
            <a:off x="10531631" y="4652172"/>
            <a:ext cx="2810932" cy="2798416"/>
            <a:chOff x="0" y="0"/>
            <a:chExt cx="3747910" cy="3731222"/>
          </a:xfrm>
        </p:grpSpPr>
        <p:sp>
          <p:nvSpPr>
            <p:cNvPr id="9" name="Freeform 9"/>
            <p:cNvSpPr/>
            <p:nvPr/>
          </p:nvSpPr>
          <p:spPr>
            <a:xfrm>
              <a:off x="-32" y="-18"/>
              <a:ext cx="3748087" cy="3731298"/>
            </a:xfrm>
            <a:custGeom>
              <a:avLst/>
              <a:gdLst/>
              <a:ahLst/>
              <a:cxnLst/>
              <a:rect l="l" t="t" r="r" b="b"/>
              <a:pathLst>
                <a:path w="3748087" h="3731298">
                  <a:moveTo>
                    <a:pt x="1874044" y="18"/>
                  </a:moveTo>
                  <a:cubicBezTo>
                    <a:pt x="1205516" y="-2903"/>
                    <a:pt x="586518" y="351935"/>
                    <a:pt x="251365" y="930420"/>
                  </a:cubicBezTo>
                  <a:cubicBezTo>
                    <a:pt x="-83788" y="1508905"/>
                    <a:pt x="-83788" y="2222391"/>
                    <a:pt x="251365" y="2800876"/>
                  </a:cubicBezTo>
                  <a:cubicBezTo>
                    <a:pt x="586518" y="3379361"/>
                    <a:pt x="1205516" y="3734199"/>
                    <a:pt x="1874044" y="3731278"/>
                  </a:cubicBezTo>
                  <a:cubicBezTo>
                    <a:pt x="2542572" y="3734326"/>
                    <a:pt x="3161570" y="3379361"/>
                    <a:pt x="3496723" y="2800876"/>
                  </a:cubicBezTo>
                  <a:cubicBezTo>
                    <a:pt x="3831876" y="2222391"/>
                    <a:pt x="3831876" y="1508905"/>
                    <a:pt x="3496723" y="930420"/>
                  </a:cubicBezTo>
                  <a:cubicBezTo>
                    <a:pt x="3161570" y="351935"/>
                    <a:pt x="2542445" y="-2903"/>
                    <a:pt x="1874044" y="18"/>
                  </a:cubicBezTo>
                  <a:close/>
                </a:path>
              </a:pathLst>
            </a:custGeom>
            <a:blipFill>
              <a:blip r:embed="rId4"/>
              <a:stretch>
                <a:fillRect l="-30214" r="-30211" b="1"/>
              </a:stretch>
            </a:blipFill>
          </p:spPr>
          <p:txBody>
            <a:bodyPr/>
            <a:lstStyle/>
            <a:p>
              <a:endParaRPr lang="en-US"/>
            </a:p>
          </p:txBody>
        </p:sp>
      </p:grpSp>
      <p:grpSp>
        <p:nvGrpSpPr>
          <p:cNvPr id="10" name="Group 10"/>
          <p:cNvGrpSpPr/>
          <p:nvPr/>
        </p:nvGrpSpPr>
        <p:grpSpPr>
          <a:xfrm>
            <a:off x="10511923" y="4626197"/>
            <a:ext cx="2850347" cy="2850337"/>
            <a:chOff x="0" y="0"/>
            <a:chExt cx="3800462" cy="3800450"/>
          </a:xfrm>
        </p:grpSpPr>
        <p:sp>
          <p:nvSpPr>
            <p:cNvPr id="11" name="Freeform 11"/>
            <p:cNvSpPr/>
            <p:nvPr/>
          </p:nvSpPr>
          <p:spPr>
            <a:xfrm>
              <a:off x="0" y="0"/>
              <a:ext cx="3800475" cy="3800475"/>
            </a:xfrm>
            <a:custGeom>
              <a:avLst/>
              <a:gdLst/>
              <a:ahLst/>
              <a:cxnLst/>
              <a:rect l="l" t="t" r="r" b="b"/>
              <a:pathLst>
                <a:path w="3800475" h="3800475">
                  <a:moveTo>
                    <a:pt x="1900174" y="3800475"/>
                  </a:moveTo>
                  <a:cubicBezTo>
                    <a:pt x="852424" y="3800475"/>
                    <a:pt x="0" y="2948051"/>
                    <a:pt x="0" y="1900301"/>
                  </a:cubicBezTo>
                  <a:cubicBezTo>
                    <a:pt x="0" y="852551"/>
                    <a:pt x="852424" y="0"/>
                    <a:pt x="1900174" y="0"/>
                  </a:cubicBezTo>
                  <a:cubicBezTo>
                    <a:pt x="2947924" y="0"/>
                    <a:pt x="3800475" y="852424"/>
                    <a:pt x="3800475" y="1900301"/>
                  </a:cubicBezTo>
                  <a:cubicBezTo>
                    <a:pt x="3800475" y="2948178"/>
                    <a:pt x="2948051" y="3800475"/>
                    <a:pt x="1900174" y="3800475"/>
                  </a:cubicBezTo>
                  <a:close/>
                  <a:moveTo>
                    <a:pt x="1900174" y="69342"/>
                  </a:moveTo>
                  <a:cubicBezTo>
                    <a:pt x="890651" y="69342"/>
                    <a:pt x="69342" y="890651"/>
                    <a:pt x="69342" y="1900301"/>
                  </a:cubicBezTo>
                  <a:cubicBezTo>
                    <a:pt x="69342" y="2909951"/>
                    <a:pt x="890651" y="3731133"/>
                    <a:pt x="1900174" y="3731133"/>
                  </a:cubicBezTo>
                  <a:cubicBezTo>
                    <a:pt x="2909697" y="3731133"/>
                    <a:pt x="3731133" y="2909824"/>
                    <a:pt x="3731133" y="1900174"/>
                  </a:cubicBezTo>
                  <a:cubicBezTo>
                    <a:pt x="3731133" y="890524"/>
                    <a:pt x="2909824" y="69342"/>
                    <a:pt x="1900174" y="69342"/>
                  </a:cubicBezTo>
                  <a:close/>
                </a:path>
              </a:pathLst>
            </a:custGeom>
            <a:solidFill>
              <a:srgbClr val="145DA0"/>
            </a:solidFill>
          </p:spPr>
          <p:txBody>
            <a:bodyPr/>
            <a:lstStyle/>
            <a:p>
              <a:endParaRPr lang="en-US"/>
            </a:p>
          </p:txBody>
        </p:sp>
      </p:grpSp>
      <p:sp>
        <p:nvSpPr>
          <p:cNvPr id="12" name="TextBox 12"/>
          <p:cNvSpPr txBox="1"/>
          <p:nvPr/>
        </p:nvSpPr>
        <p:spPr>
          <a:xfrm>
            <a:off x="1921831" y="1694136"/>
            <a:ext cx="15733605" cy="2566273"/>
          </a:xfrm>
          <a:prstGeom prst="rect">
            <a:avLst/>
          </a:prstGeom>
        </p:spPr>
        <p:txBody>
          <a:bodyPr lIns="0" tIns="0" rIns="0" bIns="0" rtlCol="0" anchor="t">
            <a:spAutoFit/>
          </a:bodyPr>
          <a:lstStyle/>
          <a:p>
            <a:pPr algn="ctr">
              <a:lnSpc>
                <a:spcPts val="9750"/>
              </a:lnSpc>
            </a:pPr>
            <a:r>
              <a:rPr lang="en-US" sz="6965" b="1">
                <a:solidFill>
                  <a:srgbClr val="051D40"/>
                </a:solidFill>
                <a:latin typeface="Montserrat Bold" panose="00000800000000000000"/>
                <a:ea typeface="Montserrat Bold" panose="00000800000000000000"/>
                <a:cs typeface="Montserrat Bold" panose="00000800000000000000"/>
                <a:sym typeface="Montserrat Bold" panose="00000800000000000000"/>
              </a:rPr>
              <a:t>SUSTAINABLE DEVELOPMENT GOAL(S) </a:t>
            </a:r>
          </a:p>
        </p:txBody>
      </p:sp>
      <p:sp>
        <p:nvSpPr>
          <p:cNvPr id="13" name="TextBox 13"/>
          <p:cNvSpPr txBox="1"/>
          <p:nvPr/>
        </p:nvSpPr>
        <p:spPr>
          <a:xfrm>
            <a:off x="5070167" y="5114925"/>
            <a:ext cx="3747649" cy="593255"/>
          </a:xfrm>
          <a:prstGeom prst="rect">
            <a:avLst/>
          </a:prstGeom>
        </p:spPr>
        <p:txBody>
          <a:bodyPr lIns="0" tIns="0" rIns="0" bIns="0" rtlCol="0" anchor="t">
            <a:spAutoFit/>
          </a:bodyPr>
          <a:lstStyle/>
          <a:p>
            <a:pPr algn="ctr">
              <a:lnSpc>
                <a:spcPts val="4050"/>
              </a:lnSpc>
            </a:pPr>
            <a:r>
              <a:rPr lang="en-US" sz="2895" b="1" spc="-56">
                <a:solidFill>
                  <a:srgbClr val="145DA0"/>
                </a:solidFill>
                <a:latin typeface="Poppins Bold" panose="00000800000000000000"/>
                <a:ea typeface="Poppins Bold" panose="00000800000000000000"/>
                <a:cs typeface="Poppins Bold" panose="00000800000000000000"/>
                <a:sym typeface="Poppins Bold" panose="00000800000000000000"/>
              </a:rPr>
              <a:t>SDG 09</a:t>
            </a:r>
          </a:p>
        </p:txBody>
      </p:sp>
      <p:sp>
        <p:nvSpPr>
          <p:cNvPr id="14" name="TextBox 14"/>
          <p:cNvSpPr txBox="1"/>
          <p:nvPr/>
        </p:nvSpPr>
        <p:spPr>
          <a:xfrm>
            <a:off x="13587851" y="5114925"/>
            <a:ext cx="3747649" cy="593255"/>
          </a:xfrm>
          <a:prstGeom prst="rect">
            <a:avLst/>
          </a:prstGeom>
        </p:spPr>
        <p:txBody>
          <a:bodyPr lIns="0" tIns="0" rIns="0" bIns="0" rtlCol="0" anchor="t">
            <a:spAutoFit/>
          </a:bodyPr>
          <a:lstStyle/>
          <a:p>
            <a:pPr algn="ctr">
              <a:lnSpc>
                <a:spcPts val="4050"/>
              </a:lnSpc>
            </a:pPr>
            <a:r>
              <a:rPr lang="en-US" sz="2895" b="1" spc="-56">
                <a:solidFill>
                  <a:srgbClr val="145DA0"/>
                </a:solidFill>
                <a:latin typeface="Poppins Bold" panose="00000800000000000000"/>
                <a:ea typeface="Poppins Bold" panose="00000800000000000000"/>
                <a:cs typeface="Poppins Bold" panose="00000800000000000000"/>
                <a:sym typeface="Poppins Bold" panose="00000800000000000000"/>
              </a:rPr>
              <a:t>SDG 11</a:t>
            </a:r>
          </a:p>
        </p:txBody>
      </p:sp>
      <p:sp>
        <p:nvSpPr>
          <p:cNvPr id="15" name="TextBox 15"/>
          <p:cNvSpPr txBox="1"/>
          <p:nvPr/>
        </p:nvSpPr>
        <p:spPr>
          <a:xfrm>
            <a:off x="5070167" y="5783618"/>
            <a:ext cx="3747649" cy="1104786"/>
          </a:xfrm>
          <a:prstGeom prst="rect">
            <a:avLst/>
          </a:prstGeom>
        </p:spPr>
        <p:txBody>
          <a:bodyPr lIns="0" tIns="0" rIns="0" bIns="0" rtlCol="0" anchor="t">
            <a:spAutoFit/>
          </a:bodyPr>
          <a:lstStyle/>
          <a:p>
            <a:pPr algn="l">
              <a:lnSpc>
                <a:spcPts val="4050"/>
              </a:lnSpc>
            </a:pPr>
            <a:r>
              <a:rPr lang="en-US" sz="2895" b="1" spc="-56">
                <a:solidFill>
                  <a:srgbClr val="145DA0"/>
                </a:solidFill>
                <a:latin typeface="Poppins Bold" panose="00000800000000000000"/>
                <a:ea typeface="Poppins Bold" panose="00000800000000000000"/>
                <a:cs typeface="Poppins Bold" panose="00000800000000000000"/>
                <a:sym typeface="Poppins Bold" panose="00000800000000000000"/>
              </a:rPr>
              <a:t>Industry, Innovation and Infrastructure </a:t>
            </a:r>
          </a:p>
        </p:txBody>
      </p:sp>
      <p:sp>
        <p:nvSpPr>
          <p:cNvPr id="16" name="TextBox 16"/>
          <p:cNvSpPr txBox="1"/>
          <p:nvPr/>
        </p:nvSpPr>
        <p:spPr>
          <a:xfrm>
            <a:off x="13587851" y="5783618"/>
            <a:ext cx="3747649" cy="1104786"/>
          </a:xfrm>
          <a:prstGeom prst="rect">
            <a:avLst/>
          </a:prstGeom>
        </p:spPr>
        <p:txBody>
          <a:bodyPr lIns="0" tIns="0" rIns="0" bIns="0" rtlCol="0" anchor="t">
            <a:spAutoFit/>
          </a:bodyPr>
          <a:lstStyle/>
          <a:p>
            <a:pPr algn="l">
              <a:lnSpc>
                <a:spcPts val="4050"/>
              </a:lnSpc>
            </a:pPr>
            <a:r>
              <a:rPr lang="en-US" sz="2895" b="1" spc="-56">
                <a:solidFill>
                  <a:srgbClr val="145DA0"/>
                </a:solidFill>
                <a:latin typeface="Poppins Bold" panose="00000800000000000000"/>
                <a:ea typeface="Poppins Bold" panose="00000800000000000000"/>
                <a:cs typeface="Poppins Bold" panose="00000800000000000000"/>
                <a:sym typeface="Poppins Bold" panose="00000800000000000000"/>
              </a:rPr>
              <a:t> Sustainable Cities and Communities </a:t>
            </a:r>
          </a:p>
        </p:txBody>
      </p:sp>
      <p:grpSp>
        <p:nvGrpSpPr>
          <p:cNvPr id="17" name="Group 17"/>
          <p:cNvGrpSpPr/>
          <p:nvPr/>
        </p:nvGrpSpPr>
        <p:grpSpPr>
          <a:xfrm>
            <a:off x="268738" y="601628"/>
            <a:ext cx="2332682" cy="2332682"/>
            <a:chOff x="0" y="0"/>
            <a:chExt cx="3110243" cy="3110243"/>
          </a:xfrm>
        </p:grpSpPr>
        <p:sp>
          <p:nvSpPr>
            <p:cNvPr id="18" name="Freeform 18"/>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5"/>
              <a:stretch>
                <a:fillRect t="-16666" b="-16667"/>
              </a:stretch>
            </a:blipFill>
          </p:spPr>
          <p:txBody>
            <a:bodyPr/>
            <a:lstStyle/>
            <a:p>
              <a:endParaRPr 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541039" y="1540135"/>
            <a:ext cx="16718261" cy="1300486"/>
          </a:xfrm>
          <a:prstGeom prst="rect">
            <a:avLst/>
          </a:prstGeom>
        </p:spPr>
        <p:txBody>
          <a:bodyPr lIns="0" tIns="0" rIns="0" bIns="0" rtlCol="0" anchor="t">
            <a:spAutoFit/>
          </a:bodyPr>
          <a:lstStyle/>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Conclusion</a:t>
            </a:r>
          </a:p>
        </p:txBody>
      </p:sp>
      <p:sp>
        <p:nvSpPr>
          <p:cNvPr id="3" name="Freeform 3"/>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747855" y="3813486"/>
            <a:ext cx="16790346" cy="3462480"/>
          </a:xfrm>
          <a:prstGeom prst="rect">
            <a:avLst/>
          </a:prstGeom>
        </p:spPr>
        <p:txBody>
          <a:bodyPr lIns="0" tIns="0" rIns="0" bIns="0" rtlCol="0" anchor="t">
            <a:spAutoFit/>
          </a:bodyPr>
          <a:lstStyle/>
          <a:p>
            <a:pPr algn="just">
              <a:lnSpc>
                <a:spcPts val="4455"/>
              </a:lnSpc>
            </a:pPr>
            <a:r>
              <a:rPr lang="en-US" sz="3180" spc="-62">
                <a:solidFill>
                  <a:srgbClr val="051D40"/>
                </a:solidFill>
                <a:latin typeface="Poppins" panose="00000500000000000000"/>
                <a:ea typeface="Poppins" panose="00000500000000000000"/>
                <a:cs typeface="Poppins" panose="00000500000000000000"/>
                <a:sym typeface="Poppins" panose="00000500000000000000"/>
              </a:rPr>
              <a:t>The project successfully focuses on developing a hybrid path planning approach for mobile robots in unknown environments. By combining multiple existing algorithms and using real-time sensor data, the system aims to enable autonomous navigation, obstacle avoidance, and adaptive decision making. This work lays the foundation for creating intelligent robotic systems capable of exploring complex indoor and outdoor environments safely and efficiently.</a:t>
            </a:r>
          </a:p>
        </p:txBody>
      </p:sp>
      <p:grpSp>
        <p:nvGrpSpPr>
          <p:cNvPr id="6" name="Group 6"/>
          <p:cNvGrpSpPr/>
          <p:nvPr/>
        </p:nvGrpSpPr>
        <p:grpSpPr>
          <a:xfrm>
            <a:off x="268738" y="601628"/>
            <a:ext cx="2332682" cy="2332682"/>
            <a:chOff x="0" y="0"/>
            <a:chExt cx="3110243" cy="3110243"/>
          </a:xfrm>
        </p:grpSpPr>
        <p:sp>
          <p:nvSpPr>
            <p:cNvPr id="7" name="Freeform 7"/>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4"/>
              <a:stretch>
                <a:fillRect t="-16666" b="-16667"/>
              </a:stretch>
            </a:blip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541039" y="1540135"/>
            <a:ext cx="16718261" cy="1300486"/>
          </a:xfrm>
          <a:prstGeom prst="rect">
            <a:avLst/>
          </a:prstGeom>
        </p:spPr>
        <p:txBody>
          <a:bodyPr lIns="0" tIns="0" rIns="0" bIns="0" rtlCol="0" anchor="t">
            <a:spAutoFit/>
          </a:bodyPr>
          <a:lstStyle/>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Future Work</a:t>
            </a:r>
          </a:p>
        </p:txBody>
      </p:sp>
      <p:sp>
        <p:nvSpPr>
          <p:cNvPr id="3" name="Freeform 3"/>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747855" y="3794436"/>
            <a:ext cx="16511445" cy="2873264"/>
          </a:xfrm>
          <a:prstGeom prst="rect">
            <a:avLst/>
          </a:prstGeom>
        </p:spPr>
        <p:txBody>
          <a:bodyPr lIns="0" tIns="0" rIns="0" bIns="0" rtlCol="0" anchor="t">
            <a:spAutoFit/>
          </a:bodyPr>
          <a:lstStyle/>
          <a:p>
            <a:pPr marL="715010" lvl="2" indent="-238125" algn="just">
              <a:lnSpc>
                <a:spcPts val="4380"/>
              </a:lnSpc>
              <a:buFont typeface="Arial" panose="020B0604020202020204"/>
              <a:buChar char="⚬"/>
            </a:pPr>
            <a:r>
              <a:rPr lang="en-US" sz="3130" spc="-62">
                <a:solidFill>
                  <a:srgbClr val="051D40"/>
                </a:solidFill>
                <a:latin typeface="Poppins" panose="00000500000000000000"/>
                <a:ea typeface="Poppins" panose="00000500000000000000"/>
                <a:cs typeface="Poppins" panose="00000500000000000000"/>
                <a:sym typeface="Poppins" panose="00000500000000000000"/>
              </a:rPr>
              <a:t>Implement the system on an advanced robot platform for large scale testing.</a:t>
            </a:r>
          </a:p>
          <a:p>
            <a:pPr marL="715010" lvl="2" indent="-238125" algn="just">
              <a:lnSpc>
                <a:spcPts val="4380"/>
              </a:lnSpc>
              <a:buFont typeface="Arial" panose="020B0604020202020204"/>
              <a:buChar char="⚬"/>
            </a:pPr>
            <a:r>
              <a:rPr lang="en-US" sz="3130" spc="-62">
                <a:solidFill>
                  <a:srgbClr val="051D40"/>
                </a:solidFill>
                <a:latin typeface="Poppins" panose="00000500000000000000"/>
                <a:ea typeface="Poppins" panose="00000500000000000000"/>
                <a:cs typeface="Poppins" panose="00000500000000000000"/>
                <a:sym typeface="Poppins" panose="00000500000000000000"/>
              </a:rPr>
              <a:t>Improve dynamic obstacle detection using deep learning or AI based mapping.</a:t>
            </a:r>
          </a:p>
          <a:p>
            <a:pPr marL="715010" lvl="2" indent="-238125" algn="just">
              <a:lnSpc>
                <a:spcPts val="4380"/>
              </a:lnSpc>
              <a:buFont typeface="Arial" panose="020B0604020202020204"/>
              <a:buChar char="⚬"/>
            </a:pPr>
            <a:r>
              <a:rPr lang="en-US" sz="3130" spc="-62">
                <a:solidFill>
                  <a:srgbClr val="051D40"/>
                </a:solidFill>
                <a:latin typeface="Poppins" panose="00000500000000000000"/>
                <a:ea typeface="Poppins" panose="00000500000000000000"/>
                <a:cs typeface="Poppins" panose="00000500000000000000"/>
                <a:sym typeface="Poppins" panose="00000500000000000000"/>
              </a:rPr>
              <a:t>Enhance real time decision making with improved sensor fusion and optimization.</a:t>
            </a:r>
          </a:p>
          <a:p>
            <a:pPr marL="715010" lvl="2" indent="-238125" algn="just">
              <a:lnSpc>
                <a:spcPts val="4380"/>
              </a:lnSpc>
              <a:buFont typeface="Arial" panose="020B0604020202020204"/>
              <a:buChar char="⚬"/>
            </a:pPr>
            <a:r>
              <a:rPr lang="en-US" sz="3130" spc="-62">
                <a:solidFill>
                  <a:srgbClr val="051D40"/>
                </a:solidFill>
                <a:latin typeface="Poppins" panose="00000500000000000000"/>
                <a:ea typeface="Poppins" panose="00000500000000000000"/>
                <a:cs typeface="Poppins" panose="00000500000000000000"/>
                <a:sym typeface="Poppins" panose="00000500000000000000"/>
              </a:rPr>
              <a:t>Extend the system for outdoor and multi robot coordination scenarios.</a:t>
            </a:r>
          </a:p>
          <a:p>
            <a:pPr marL="715010" lvl="2" indent="-238125" algn="just">
              <a:lnSpc>
                <a:spcPts val="4380"/>
              </a:lnSpc>
            </a:pPr>
            <a:endParaRPr lang="en-US" sz="3130" spc="-62">
              <a:solidFill>
                <a:srgbClr val="051D40"/>
              </a:solidFill>
              <a:latin typeface="Poppins" panose="00000500000000000000"/>
              <a:ea typeface="Poppins" panose="00000500000000000000"/>
              <a:cs typeface="Poppins" panose="00000500000000000000"/>
              <a:sym typeface="Poppins" panose="00000500000000000000"/>
            </a:endParaRPr>
          </a:p>
        </p:txBody>
      </p:sp>
      <p:grpSp>
        <p:nvGrpSpPr>
          <p:cNvPr id="6" name="Group 6"/>
          <p:cNvGrpSpPr/>
          <p:nvPr/>
        </p:nvGrpSpPr>
        <p:grpSpPr>
          <a:xfrm>
            <a:off x="268738" y="601628"/>
            <a:ext cx="2332682" cy="2332682"/>
            <a:chOff x="0" y="0"/>
            <a:chExt cx="3110243" cy="3110243"/>
          </a:xfrm>
        </p:grpSpPr>
        <p:sp>
          <p:nvSpPr>
            <p:cNvPr id="7" name="Freeform 7"/>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4"/>
              <a:stretch>
                <a:fillRect t="-16666" b="-16667"/>
              </a:stretch>
            </a:blipFill>
          </p:spPr>
          <p:txBody>
            <a:bodyPr/>
            <a:lstStyle/>
            <a:p>
              <a:endParaRPr 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541039" y="1540135"/>
            <a:ext cx="16718261" cy="1176630"/>
          </a:xfrm>
          <a:prstGeom prst="rect">
            <a:avLst/>
          </a:prstGeom>
        </p:spPr>
        <p:txBody>
          <a:bodyPr lIns="0" tIns="0" rIns="0" bIns="0" rtlCol="0" anchor="t">
            <a:spAutoFit/>
          </a:bodyPr>
          <a:lstStyle/>
          <a:p>
            <a:pPr algn="ctr">
              <a:lnSpc>
                <a:spcPts val="9695"/>
              </a:lnSpc>
            </a:pPr>
            <a:r>
              <a:rPr lang="en-US" sz="6925" b="1">
                <a:solidFill>
                  <a:srgbClr val="051D40"/>
                </a:solidFill>
                <a:latin typeface="Montserrat Bold" panose="00000800000000000000"/>
                <a:ea typeface="Montserrat Bold" panose="00000800000000000000"/>
                <a:cs typeface="Montserrat Bold" panose="00000800000000000000"/>
                <a:sym typeface="Montserrat Bold" panose="00000800000000000000"/>
              </a:rPr>
              <a:t>REFERENCES</a:t>
            </a:r>
          </a:p>
        </p:txBody>
      </p:sp>
      <p:sp>
        <p:nvSpPr>
          <p:cNvPr id="3" name="Freeform 3"/>
          <p:cNvSpPr/>
          <p:nvPr/>
        </p:nvSpPr>
        <p:spPr>
          <a:xfrm>
            <a:off x="14231445" y="-3906383"/>
            <a:ext cx="8113109" cy="8113109"/>
          </a:xfrm>
          <a:custGeom>
            <a:avLst/>
            <a:gdLst/>
            <a:ahLst/>
            <a:cxnLst/>
            <a:rect l="l" t="t" r="r" b="b"/>
            <a:pathLst>
              <a:path w="8113109" h="8113109">
                <a:moveTo>
                  <a:pt x="0" y="0"/>
                </a:moveTo>
                <a:lnTo>
                  <a:pt x="8113110" y="0"/>
                </a:lnTo>
                <a:lnTo>
                  <a:pt x="8113110" y="8113109"/>
                </a:lnTo>
                <a:lnTo>
                  <a:pt x="0" y="8113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47855" y="-643471"/>
            <a:ext cx="1286951" cy="1286951"/>
          </a:xfrm>
          <a:custGeom>
            <a:avLst/>
            <a:gdLst/>
            <a:ahLst/>
            <a:cxnLst/>
            <a:rect l="l" t="t" r="r" b="b"/>
            <a:pathLst>
              <a:path w="1286951" h="1286951">
                <a:moveTo>
                  <a:pt x="0" y="0"/>
                </a:moveTo>
                <a:lnTo>
                  <a:pt x="1286952" y="0"/>
                </a:lnTo>
                <a:lnTo>
                  <a:pt x="1286952" y="1286951"/>
                </a:lnTo>
                <a:lnTo>
                  <a:pt x="0" y="12869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747855" y="3794436"/>
            <a:ext cx="16511445" cy="5540510"/>
          </a:xfrm>
          <a:prstGeom prst="rect">
            <a:avLst/>
          </a:prstGeom>
        </p:spPr>
        <p:txBody>
          <a:bodyPr lIns="0" tIns="0" rIns="0" bIns="0" rtlCol="0" anchor="t">
            <a:spAutoFit/>
          </a:bodyPr>
          <a:lstStyle/>
          <a:p>
            <a:pPr marL="715010" lvl="1" indent="-357505" algn="just">
              <a:lnSpc>
                <a:spcPts val="4375"/>
              </a:lnSpc>
              <a:buFont typeface="Arial" panose="020B0604020202020204"/>
              <a:buChar char="•"/>
            </a:pPr>
            <a:r>
              <a:rPr lang="en-US" sz="3130" spc="-59">
                <a:solidFill>
                  <a:srgbClr val="051D40"/>
                </a:solidFill>
                <a:latin typeface="Poppins" panose="00000500000000000000"/>
                <a:ea typeface="Poppins" panose="00000500000000000000"/>
                <a:cs typeface="Poppins" panose="00000500000000000000"/>
                <a:sym typeface="Poppins" panose="00000500000000000000"/>
              </a:rPr>
              <a:t>S. Thrun, W. Burgard, and D. Fox, Probabilistic Robotics. MIT Press, 2005.</a:t>
            </a:r>
          </a:p>
          <a:p>
            <a:pPr marL="715010" lvl="1" indent="-357505" algn="just">
              <a:lnSpc>
                <a:spcPts val="4375"/>
              </a:lnSpc>
              <a:buFont typeface="Arial" panose="020B0604020202020204"/>
              <a:buChar char="•"/>
            </a:pPr>
            <a:r>
              <a:rPr lang="en-US" sz="3130" spc="-59">
                <a:solidFill>
                  <a:srgbClr val="051D40"/>
                </a:solidFill>
                <a:latin typeface="Poppins" panose="00000500000000000000"/>
                <a:ea typeface="Poppins" panose="00000500000000000000"/>
                <a:cs typeface="Poppins" panose="00000500000000000000"/>
                <a:sym typeface="Poppins" panose="00000500000000000000"/>
              </a:rPr>
              <a:t>T. Bailey and H. Durrant-Whyte, "Simultaneous localization and mapping (SLAM): Part I," IEEE Robotics &amp; Automation Magazine, 2006.</a:t>
            </a:r>
          </a:p>
          <a:p>
            <a:pPr marL="715010" lvl="1" indent="-357505" algn="just">
              <a:lnSpc>
                <a:spcPts val="4375"/>
              </a:lnSpc>
              <a:buFont typeface="Arial" panose="020B0604020202020204"/>
              <a:buChar char="•"/>
            </a:pPr>
            <a:r>
              <a:rPr lang="en-US" sz="3130" spc="-59">
                <a:solidFill>
                  <a:srgbClr val="051D40"/>
                </a:solidFill>
                <a:latin typeface="Poppins" panose="00000500000000000000"/>
                <a:ea typeface="Poppins" panose="00000500000000000000"/>
                <a:cs typeface="Poppins" panose="00000500000000000000"/>
                <a:sym typeface="Poppins" panose="00000500000000000000"/>
              </a:rPr>
              <a:t>M. Quigley et al., "ROS: An open-source Robot Operating System," in ICRA Workshop on Open Source Software, 2009.</a:t>
            </a:r>
          </a:p>
          <a:p>
            <a:pPr marL="715010" lvl="1" indent="-357505" algn="just">
              <a:lnSpc>
                <a:spcPts val="4375"/>
              </a:lnSpc>
              <a:buFont typeface="Arial" panose="020B0604020202020204"/>
              <a:buChar char="•"/>
            </a:pPr>
            <a:r>
              <a:rPr lang="en-US" sz="3130" spc="-59">
                <a:solidFill>
                  <a:srgbClr val="051D40"/>
                </a:solidFill>
                <a:latin typeface="Poppins" panose="00000500000000000000"/>
                <a:ea typeface="Poppins" panose="00000500000000000000"/>
                <a:cs typeface="Poppins" panose="00000500000000000000"/>
                <a:sym typeface="Poppins" panose="00000500000000000000"/>
              </a:rPr>
              <a:t>N. Koenig and A. Howard, "Design and use paradigms for Gazebo, an open-source multi-robot simulator," in IEEE/RSJ IROS, 2004.</a:t>
            </a:r>
          </a:p>
          <a:p>
            <a:pPr marL="715010" lvl="1" indent="-357505" algn="just">
              <a:lnSpc>
                <a:spcPts val="4375"/>
              </a:lnSpc>
              <a:buFont typeface="Arial" panose="020B0604020202020204"/>
              <a:buChar char="•"/>
            </a:pPr>
            <a:r>
              <a:rPr lang="en-US" sz="3130" spc="-59">
                <a:solidFill>
                  <a:srgbClr val="051D40"/>
                </a:solidFill>
                <a:latin typeface="Poppins" panose="00000500000000000000"/>
                <a:ea typeface="Poppins" panose="00000500000000000000"/>
                <a:cs typeface="Poppins" panose="00000500000000000000"/>
                <a:sym typeface="Poppins" panose="00000500000000000000"/>
              </a:rPr>
              <a:t>D. Fox, W. Burgard, and S. Thrun, "The dynamic window approach to collision avoidance," IEEE Robotics &amp; Automation Magazine, 1997.</a:t>
            </a:r>
          </a:p>
          <a:p>
            <a:pPr marL="715010" lvl="2" indent="-238125" algn="just">
              <a:lnSpc>
                <a:spcPts val="4380"/>
              </a:lnSpc>
            </a:pPr>
            <a:endParaRPr lang="en-US" sz="3130" spc="-59">
              <a:solidFill>
                <a:srgbClr val="051D40"/>
              </a:solidFill>
              <a:latin typeface="Poppins" panose="00000500000000000000"/>
              <a:ea typeface="Poppins" panose="00000500000000000000"/>
              <a:cs typeface="Poppins" panose="00000500000000000000"/>
              <a:sym typeface="Poppins" panose="00000500000000000000"/>
            </a:endParaRPr>
          </a:p>
        </p:txBody>
      </p:sp>
      <p:grpSp>
        <p:nvGrpSpPr>
          <p:cNvPr id="6" name="Group 6"/>
          <p:cNvGrpSpPr/>
          <p:nvPr/>
        </p:nvGrpSpPr>
        <p:grpSpPr>
          <a:xfrm>
            <a:off x="268738" y="601628"/>
            <a:ext cx="2332682" cy="2332682"/>
            <a:chOff x="0" y="0"/>
            <a:chExt cx="3110243" cy="3110243"/>
          </a:xfrm>
        </p:grpSpPr>
        <p:sp>
          <p:nvSpPr>
            <p:cNvPr id="7" name="Freeform 7"/>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4"/>
              <a:stretch>
                <a:fillRect t="-16666" b="-16667"/>
              </a:stretch>
            </a:blipFill>
          </p:spPr>
          <p:txBody>
            <a:bodyPr/>
            <a:lstStyle/>
            <a:p>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34201" y="3416979"/>
            <a:ext cx="8819588" cy="1956064"/>
          </a:xfrm>
          <a:prstGeom prst="rect">
            <a:avLst/>
          </a:prstGeom>
        </p:spPr>
        <p:txBody>
          <a:bodyPr lIns="0" tIns="0" rIns="0" bIns="0" rtlCol="0" anchor="t">
            <a:spAutoFit/>
          </a:bodyPr>
          <a:lstStyle/>
          <a:p>
            <a:pPr algn="l">
              <a:lnSpc>
                <a:spcPts val="14510"/>
              </a:lnSpc>
            </a:pPr>
            <a:r>
              <a:rPr lang="en-US" sz="10365" b="1">
                <a:solidFill>
                  <a:srgbClr val="051D40"/>
                </a:solidFill>
                <a:latin typeface="Montserrat Bold" panose="00000800000000000000"/>
                <a:ea typeface="Montserrat Bold" panose="00000800000000000000"/>
                <a:cs typeface="Montserrat Bold" panose="00000800000000000000"/>
                <a:sym typeface="Montserrat Bold" panose="00000800000000000000"/>
              </a:rPr>
              <a:t>THANK YOU!</a:t>
            </a:r>
          </a:p>
        </p:txBody>
      </p:sp>
      <p:sp>
        <p:nvSpPr>
          <p:cNvPr id="3" name="Freeform 3"/>
          <p:cNvSpPr/>
          <p:nvPr/>
        </p:nvSpPr>
        <p:spPr>
          <a:xfrm>
            <a:off x="-4696320" y="4151843"/>
            <a:ext cx="9392641" cy="9529477"/>
          </a:xfrm>
          <a:custGeom>
            <a:avLst/>
            <a:gdLst/>
            <a:ahLst/>
            <a:cxnLst/>
            <a:rect l="l" t="t" r="r" b="b"/>
            <a:pathLst>
              <a:path w="9392641" h="9529477">
                <a:moveTo>
                  <a:pt x="0" y="0"/>
                </a:moveTo>
                <a:lnTo>
                  <a:pt x="9392640" y="0"/>
                </a:lnTo>
                <a:lnTo>
                  <a:pt x="9392640" y="9529476"/>
                </a:lnTo>
                <a:lnTo>
                  <a:pt x="0" y="9529476"/>
                </a:lnTo>
                <a:lnTo>
                  <a:pt x="0" y="0"/>
                </a:lnTo>
                <a:close/>
              </a:path>
            </a:pathLst>
          </a:custGeom>
          <a:blipFill>
            <a:blip>
              <a:alphaModFix amt="20999"/>
              <a:extLst>
                <a:ext uri="{96DAC541-7B7A-43D3-8B79-37D633B846F1}">
                  <asvg:svgBlip xmlns:asvg="http://schemas.microsoft.com/office/drawing/2016/SVG/main" r:embed="rId2"/>
                </a:ext>
              </a:extLst>
            </a:blip>
            <a:stretch>
              <a:fillRect l="-69" r="-69"/>
            </a:stretch>
          </a:blipFill>
        </p:spPr>
        <p:txBody>
          <a:bodyPr/>
          <a:lstStyle/>
          <a:p>
            <a:endParaRPr lang="en-US"/>
          </a:p>
        </p:txBody>
      </p:sp>
      <p:sp>
        <p:nvSpPr>
          <p:cNvPr id="4" name="Freeform 4"/>
          <p:cNvSpPr/>
          <p:nvPr/>
        </p:nvSpPr>
        <p:spPr>
          <a:xfrm>
            <a:off x="13820499" y="3797979"/>
            <a:ext cx="9392641" cy="9529477"/>
          </a:xfrm>
          <a:custGeom>
            <a:avLst/>
            <a:gdLst/>
            <a:ahLst/>
            <a:cxnLst/>
            <a:rect l="l" t="t" r="r" b="b"/>
            <a:pathLst>
              <a:path w="9392641" h="9529477">
                <a:moveTo>
                  <a:pt x="0" y="0"/>
                </a:moveTo>
                <a:lnTo>
                  <a:pt x="9392640" y="0"/>
                </a:lnTo>
                <a:lnTo>
                  <a:pt x="9392640" y="9529477"/>
                </a:lnTo>
                <a:lnTo>
                  <a:pt x="0" y="9529477"/>
                </a:lnTo>
                <a:lnTo>
                  <a:pt x="0" y="0"/>
                </a:lnTo>
                <a:close/>
              </a:path>
            </a:pathLst>
          </a:custGeom>
          <a:blipFill>
            <a:blip>
              <a:alphaModFix amt="20999"/>
              <a:extLst>
                <a:ext uri="{96DAC541-7B7A-43D3-8B79-37D633B846F1}">
                  <asvg:svgBlip xmlns:asvg="http://schemas.microsoft.com/office/drawing/2016/SVG/main" r:embed="rId2"/>
                </a:ext>
              </a:extLst>
            </a:blip>
            <a:stretch>
              <a:fillRect l="-69" r="-69"/>
            </a:stretch>
          </a:blipFill>
        </p:spPr>
        <p:txBody>
          <a:bodyPr/>
          <a:lstStyle/>
          <a:p>
            <a:endParaRPr lang="en-US"/>
          </a:p>
        </p:txBody>
      </p:sp>
      <p:grpSp>
        <p:nvGrpSpPr>
          <p:cNvPr id="5" name="Group 5"/>
          <p:cNvGrpSpPr/>
          <p:nvPr/>
        </p:nvGrpSpPr>
        <p:grpSpPr>
          <a:xfrm>
            <a:off x="268738" y="601628"/>
            <a:ext cx="2332682" cy="2332682"/>
            <a:chOff x="0" y="0"/>
            <a:chExt cx="3110243" cy="3110243"/>
          </a:xfrm>
        </p:grpSpPr>
        <p:sp>
          <p:nvSpPr>
            <p:cNvPr id="6" name="Freeform 6"/>
            <p:cNvSpPr/>
            <p:nvPr/>
          </p:nvSpPr>
          <p:spPr>
            <a:xfrm>
              <a:off x="0" y="0"/>
              <a:ext cx="3110230" cy="3110230"/>
            </a:xfrm>
            <a:custGeom>
              <a:avLst/>
              <a:gdLst/>
              <a:ahLst/>
              <a:cxnLst/>
              <a:rect l="l" t="t" r="r" b="b"/>
              <a:pathLst>
                <a:path w="3110230" h="3110230">
                  <a:moveTo>
                    <a:pt x="1555115" y="0"/>
                  </a:moveTo>
                  <a:cubicBezTo>
                    <a:pt x="696214" y="0"/>
                    <a:pt x="0" y="696214"/>
                    <a:pt x="0" y="1555115"/>
                  </a:cubicBezTo>
                  <a:cubicBezTo>
                    <a:pt x="0" y="2414016"/>
                    <a:pt x="696214" y="3110230"/>
                    <a:pt x="1555115" y="3110230"/>
                  </a:cubicBezTo>
                  <a:cubicBezTo>
                    <a:pt x="2414016" y="3110230"/>
                    <a:pt x="3110230" y="2414016"/>
                    <a:pt x="3110230" y="1555115"/>
                  </a:cubicBezTo>
                  <a:cubicBezTo>
                    <a:pt x="3110230" y="696214"/>
                    <a:pt x="2414016" y="0"/>
                    <a:pt x="1555115" y="0"/>
                  </a:cubicBezTo>
                  <a:close/>
                </a:path>
              </a:pathLst>
            </a:custGeom>
            <a:blipFill>
              <a:blip r:embed="rId3"/>
              <a:stretch>
                <a:fillRect t="-16666" b="-16667"/>
              </a:stretch>
            </a:blip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934</Words>
  <Application>Microsoft Office PowerPoint</Application>
  <PresentationFormat>Custom</PresentationFormat>
  <Paragraphs>116</Paragraphs>
  <Slides>20</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Times New Roman</vt:lpstr>
      <vt:lpstr>Montserrat Bold</vt:lpstr>
      <vt:lpstr>Calibri</vt:lpstr>
      <vt:lpstr>Poppins</vt:lpstr>
      <vt:lpstr>Poppins Bold</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fyp-II.pptx</dc:title>
  <dc:creator/>
  <cp:lastModifiedBy>Salma Sahab</cp:lastModifiedBy>
  <cp:revision>3</cp:revision>
  <dcterms:created xsi:type="dcterms:W3CDTF">2006-08-16T00:00:00Z</dcterms:created>
  <dcterms:modified xsi:type="dcterms:W3CDTF">2026-09-10T18:06:27Z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634E0B17F3E4409CAF31149B3FA98BB4_12</vt:lpwstr>
  </property>
</Properties>
</file>